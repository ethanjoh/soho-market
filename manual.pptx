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ple SD 산돌고딕 Neo 옅은체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Apple SD 산돌고딕 Neo 세미볼드체"/>
          <a:ea typeface="Apple SD 산돌고딕 Neo 세미볼드체"/>
          <a:cs typeface="Apple SD 산돌고딕 Neo 세미볼드체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Apple SD 산돌고딕 Neo 볼드체"/>
          <a:ea typeface="Apple SD 산돌고딕 Neo 볼드체"/>
          <a:cs typeface="Apple SD 산돌고딕 Neo 볼드체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Apple SD 산돌고딕 Neo 볼드체"/>
          <a:ea typeface="Apple SD 산돌고딕 Neo 볼드체"/>
          <a:cs typeface="Apple SD 산돌고딕 Neo 볼드체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pple SD 산돌고딕 Neo 볼드체"/>
          <a:ea typeface="Apple SD 산돌고딕 Neo 볼드체"/>
          <a:cs typeface="Apple SD 산돌고딕 Neo 볼드체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8" d="100"/>
          <a:sy n="58" d="100"/>
        </p:scale>
        <p:origin x="-1104" y="-78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639948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및 부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11"/>
          <p:cNvSpPr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제목 텍스트</a:t>
            </a:r>
          </a:p>
        </p:txBody>
      </p:sp>
      <p:sp>
        <p:nvSpPr>
          <p:cNvPr id="12" name="Shape 12"/>
          <p:cNvSpPr>
            <a:spLocks noGrp="1"/>
          </p:cNvSpPr>
          <p:nvPr>
            <p:ph type="body" sz="quarter" idx="1"/>
          </p:nvPr>
        </p:nvSpPr>
        <p:spPr>
          <a:xfrm>
            <a:off x="1270000" y="50292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200"/>
            </a:lvl1pPr>
            <a:lvl2pPr marL="0" indent="228600" algn="ctr">
              <a:spcBef>
                <a:spcPts val="0"/>
              </a:spcBef>
              <a:buSzTx/>
              <a:buNone/>
              <a:defRPr sz="3200"/>
            </a:lvl2pPr>
            <a:lvl3pPr marL="0" indent="457200" algn="ctr">
              <a:spcBef>
                <a:spcPts val="0"/>
              </a:spcBef>
              <a:buSzTx/>
              <a:buNone/>
              <a:defRPr sz="3200"/>
            </a:lvl3pPr>
            <a:lvl4pPr marL="0" indent="685800" algn="ctr">
              <a:spcBef>
                <a:spcPts val="0"/>
              </a:spcBef>
              <a:buSzTx/>
              <a:buNone/>
              <a:defRPr sz="3200"/>
            </a:lvl4pPr>
            <a:lvl5pPr marL="0" indent="914400" algn="ctr">
              <a:spcBef>
                <a:spcPts val="0"/>
              </a:spcBef>
              <a:buSzTx/>
              <a:buNone/>
              <a:defRPr sz="32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3" name="Shape 13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사진 - 수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>
            <a:spLocks noGrp="1"/>
          </p:cNvSpPr>
          <p:nvPr>
            <p:ph type="pic" idx="13"/>
          </p:nvPr>
        </p:nvSpPr>
        <p:spPr>
          <a:xfrm>
            <a:off x="1606550" y="635000"/>
            <a:ext cx="9779000" cy="591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Shape 21"/>
          <p:cNvSpPr>
            <a:spLocks noGrp="1"/>
          </p:cNvSpPr>
          <p:nvPr>
            <p:ph type="title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</p:spPr>
        <p:txBody>
          <a:bodyPr anchor="b"/>
          <a:lstStyle/>
          <a:p>
            <a:r>
              <a:t>제목 텍스트</a:t>
            </a:r>
          </a:p>
        </p:txBody>
      </p:sp>
      <p:sp>
        <p:nvSpPr>
          <p:cNvPr id="22" name="Shape 22"/>
          <p:cNvSpPr>
            <a:spLocks noGrp="1"/>
          </p:cNvSpPr>
          <p:nvPr>
            <p:ph type="body" sz="quarter" idx="1"/>
          </p:nvPr>
        </p:nvSpPr>
        <p:spPr>
          <a:xfrm>
            <a:off x="1270000" y="81915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200"/>
            </a:lvl1pPr>
            <a:lvl2pPr marL="0" indent="228600" algn="ctr">
              <a:spcBef>
                <a:spcPts val="0"/>
              </a:spcBef>
              <a:buSzTx/>
              <a:buNone/>
              <a:defRPr sz="3200"/>
            </a:lvl2pPr>
            <a:lvl3pPr marL="0" indent="457200" algn="ctr">
              <a:spcBef>
                <a:spcPts val="0"/>
              </a:spcBef>
              <a:buSzTx/>
              <a:buNone/>
              <a:defRPr sz="3200"/>
            </a:lvl3pPr>
            <a:lvl4pPr marL="0" indent="685800" algn="ctr">
              <a:spcBef>
                <a:spcPts val="0"/>
              </a:spcBef>
              <a:buSzTx/>
              <a:buNone/>
              <a:defRPr sz="3200"/>
            </a:lvl4pPr>
            <a:lvl5pPr marL="0" indent="914400" algn="ctr">
              <a:spcBef>
                <a:spcPts val="0"/>
              </a:spcBef>
              <a:buSzTx/>
              <a:buNone/>
              <a:defRPr sz="32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23" name="Shape 23"/>
          <p:cNvSpPr>
            <a:spLocks noGrp="1"/>
          </p:cNvSpPr>
          <p:nvPr>
            <p:ph type="sldNum" sz="quarter" idx="2"/>
          </p:nvPr>
        </p:nvSpPr>
        <p:spPr>
          <a:xfrm>
            <a:off x="6326428" y="9245600"/>
            <a:ext cx="339244" cy="3683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 - 중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30"/>
          <p:cNvSpPr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31" name="Shape 3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사진 - 수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>
            <a:spLocks noGrp="1"/>
          </p:cNvSpPr>
          <p:nvPr>
            <p:ph type="pic" sz="half" idx="13"/>
          </p:nvPr>
        </p:nvSpPr>
        <p:spPr>
          <a:xfrm>
            <a:off x="6718300" y="635000"/>
            <a:ext cx="5334000" cy="8229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Shape 39"/>
          <p:cNvSpPr>
            <a:spLocks noGrp="1"/>
          </p:cNvSpPr>
          <p:nvPr>
            <p:ph type="title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제목 텍스트</a:t>
            </a:r>
          </a:p>
        </p:txBody>
      </p:sp>
      <p:sp>
        <p:nvSpPr>
          <p:cNvPr id="40" name="Shape 40"/>
          <p:cNvSpPr>
            <a:spLocks noGrp="1"/>
          </p:cNvSpPr>
          <p:nvPr>
            <p:ph type="body" sz="quarter" idx="1"/>
          </p:nvPr>
        </p:nvSpPr>
        <p:spPr>
          <a:xfrm>
            <a:off x="952500" y="4762500"/>
            <a:ext cx="5334000" cy="41021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200"/>
            </a:lvl1pPr>
            <a:lvl2pPr marL="0" indent="228600" algn="ctr">
              <a:spcBef>
                <a:spcPts val="0"/>
              </a:spcBef>
              <a:buSzTx/>
              <a:buNone/>
              <a:defRPr sz="3200"/>
            </a:lvl2pPr>
            <a:lvl3pPr marL="0" indent="457200" algn="ctr">
              <a:spcBef>
                <a:spcPts val="0"/>
              </a:spcBef>
              <a:buSzTx/>
              <a:buNone/>
              <a:defRPr sz="3200"/>
            </a:lvl3pPr>
            <a:lvl4pPr marL="0" indent="685800" algn="ctr">
              <a:spcBef>
                <a:spcPts val="0"/>
              </a:spcBef>
              <a:buSzTx/>
              <a:buNone/>
              <a:defRPr sz="3200"/>
            </a:lvl4pPr>
            <a:lvl5pPr marL="0" indent="914400" algn="ctr">
              <a:spcBef>
                <a:spcPts val="0"/>
              </a:spcBef>
              <a:buSzTx/>
              <a:buNone/>
              <a:defRPr sz="32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1" name="Shape 4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 - 상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49" name="Shape 49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 및 구분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56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57" name="Shape 57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58" name="Shape 5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, 구분점 및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65"/>
          <p:cNvSpPr>
            <a:spLocks noGrp="1"/>
          </p:cNvSpPr>
          <p:nvPr>
            <p:ph type="pic" sz="half" idx="13"/>
          </p:nvPr>
        </p:nvSpPr>
        <p:spPr>
          <a:xfrm>
            <a:off x="6718300" y="2603500"/>
            <a:ext cx="5334000" cy="6286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Shape 66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67" name="Shape 67"/>
          <p:cNvSpPr>
            <a:spLocks noGrp="1"/>
          </p:cNvSpPr>
          <p:nvPr>
            <p:ph type="body" sz="half" idx="1"/>
          </p:nvPr>
        </p:nvSpPr>
        <p:spPr>
          <a:xfrm>
            <a:off x="952500" y="26035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68" name="Shape 6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구분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>
            <a:spLocks noGrp="1"/>
          </p:cNvSpPr>
          <p:nvPr>
            <p:ph type="body" idx="1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76" name="Shape 76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사진 - 3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83"/>
          <p:cNvSpPr>
            <a:spLocks noGrp="1"/>
          </p:cNvSpPr>
          <p:nvPr>
            <p:ph type="pic" sz="quarter" idx="13"/>
          </p:nvPr>
        </p:nvSpPr>
        <p:spPr>
          <a:xfrm>
            <a:off x="6718300" y="5092700"/>
            <a:ext cx="5334000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Shape 84"/>
          <p:cNvSpPr>
            <a:spLocks noGrp="1"/>
          </p:cNvSpPr>
          <p:nvPr>
            <p:ph type="pic" sz="quarter" idx="14"/>
          </p:nvPr>
        </p:nvSpPr>
        <p:spPr>
          <a:xfrm>
            <a:off x="6724518" y="889000"/>
            <a:ext cx="5334001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Shape 85"/>
          <p:cNvSpPr>
            <a:spLocks noGrp="1"/>
          </p:cNvSpPr>
          <p:nvPr>
            <p:ph type="pic" sz="half" idx="15"/>
          </p:nvPr>
        </p:nvSpPr>
        <p:spPr>
          <a:xfrm>
            <a:off x="952500" y="889000"/>
            <a:ext cx="5334000" cy="7975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hape 86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인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/>
          </p:cNvSpPr>
          <p:nvPr>
            <p:ph type="body" sz="quarter" idx="13"/>
          </p:nvPr>
        </p:nvSpPr>
        <p:spPr>
          <a:xfrm>
            <a:off x="1270000" y="6362700"/>
            <a:ext cx="10464800" cy="46990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4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Shape 94"/>
          <p:cNvSpPr>
            <a:spLocks noGrp="1"/>
          </p:cNvSpPr>
          <p:nvPr>
            <p:ph type="body" sz="quarter" idx="14"/>
          </p:nvPr>
        </p:nvSpPr>
        <p:spPr>
          <a:xfrm>
            <a:off x="1270000" y="4267200"/>
            <a:ext cx="10464800" cy="6858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800"/>
            </a:lvl1pPr>
          </a:lstStyle>
          <a:p>
            <a:r>
              <a:t>‘여기에 인용을 입력하십시오.’ </a:t>
            </a:r>
          </a:p>
        </p:txBody>
      </p:sp>
      <p:sp>
        <p:nvSpPr>
          <p:cNvPr id="95" name="Shape 9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>
            <a:spLocks noGrp="1"/>
          </p:cNvSpPr>
          <p:nvPr>
            <p:ph type="pic" idx="13"/>
          </p:nvPr>
        </p:nvSpPr>
        <p:spPr>
          <a:xfrm>
            <a:off x="0" y="0"/>
            <a:ext cx="13004800" cy="9753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hape 103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11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/>
          </p:cNvSpPr>
          <p:nvPr>
            <p:ph type="title"/>
          </p:nvPr>
        </p:nvSpPr>
        <p:spPr>
          <a:xfrm>
            <a:off x="952500" y="4445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제목 텍스트</a:t>
            </a:r>
          </a:p>
        </p:txBody>
      </p:sp>
      <p:sp>
        <p:nvSpPr>
          <p:cNvPr id="3" name="Shape 3"/>
          <p:cNvSpPr>
            <a:spLocks noGrp="1"/>
          </p:cNvSpPr>
          <p:nvPr>
            <p:ph type="body" idx="1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" name="Shape 4"/>
          <p:cNvSpPr>
            <a:spLocks noGrp="1"/>
          </p:cNvSpPr>
          <p:nvPr>
            <p:ph type="sldNum" sz="quarter" idx="2"/>
          </p:nvPr>
        </p:nvSpPr>
        <p:spPr>
          <a:xfrm>
            <a:off x="6326428" y="9251950"/>
            <a:ext cx="339244" cy="3683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pple SD 산돌고딕 Neo 옅은체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pple SD 산돌고딕 Neo 옅은체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://www.smedics.co.kr/scm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://hosting.whois.co.kr/new/sms.php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Group 124"/>
          <p:cNvGrpSpPr/>
          <p:nvPr/>
        </p:nvGrpSpPr>
        <p:grpSpPr>
          <a:xfrm>
            <a:off x="1888058" y="2759020"/>
            <a:ext cx="9916306" cy="5683359"/>
            <a:chOff x="0" y="0"/>
            <a:chExt cx="9916304" cy="5683358"/>
          </a:xfrm>
        </p:grpSpPr>
        <p:sp>
          <p:nvSpPr>
            <p:cNvPr id="119" name="Shape 119"/>
            <p:cNvSpPr/>
            <p:nvPr/>
          </p:nvSpPr>
          <p:spPr>
            <a:xfrm>
              <a:off x="1012123" y="0"/>
              <a:ext cx="7894597" cy="52125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1600"/>
                  </a:moveTo>
                  <a:lnTo>
                    <a:pt x="0" y="21600"/>
                  </a:lnTo>
                  <a:lnTo>
                    <a:pt x="0" y="1115"/>
                  </a:lnTo>
                  <a:cubicBezTo>
                    <a:pt x="0" y="499"/>
                    <a:pt x="331" y="0"/>
                    <a:pt x="739" y="0"/>
                  </a:cubicBezTo>
                  <a:lnTo>
                    <a:pt x="10800" y="0"/>
                  </a:lnTo>
                  <a:lnTo>
                    <a:pt x="20862" y="0"/>
                  </a:lnTo>
                  <a:cubicBezTo>
                    <a:pt x="21269" y="0"/>
                    <a:pt x="21600" y="499"/>
                    <a:pt x="21600" y="1115"/>
                  </a:cubicBezTo>
                  <a:lnTo>
                    <a:pt x="21600" y="21600"/>
                  </a:lnTo>
                  <a:lnTo>
                    <a:pt x="10800" y="21600"/>
                  </a:lnTo>
                  <a:cubicBezTo>
                    <a:pt x="10800" y="21600"/>
                    <a:pt x="10800" y="21600"/>
                    <a:pt x="10800" y="21600"/>
                  </a:cubicBezTo>
                  <a:close/>
                </a:path>
              </a:pathLst>
            </a:custGeom>
            <a:solidFill>
              <a:srgbClr val="5A6170"/>
            </a:solidFill>
            <a:ln w="12700" cap="flat">
              <a:noFill/>
              <a:miter lim="400000"/>
            </a:ln>
            <a:effectLst/>
          </p:spPr>
          <p:txBody>
            <a:bodyPr wrap="square" lIns="38100" tIns="38100" rIns="38100" bIns="38100" numCol="1" anchor="ctr">
              <a:noAutofit/>
            </a:bodyPr>
            <a:lstStyle/>
            <a:p>
              <a:pPr defTabSz="45720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/>
            </a:p>
          </p:txBody>
        </p:sp>
        <p:sp>
          <p:nvSpPr>
            <p:cNvPr id="120" name="Shape 120"/>
            <p:cNvSpPr/>
            <p:nvPr/>
          </p:nvSpPr>
          <p:spPr>
            <a:xfrm>
              <a:off x="0" y="5212547"/>
              <a:ext cx="9916306" cy="4708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500" y="21600"/>
                  </a:moveTo>
                  <a:lnTo>
                    <a:pt x="10800" y="21600"/>
                  </a:lnTo>
                  <a:lnTo>
                    <a:pt x="1100" y="21600"/>
                  </a:lnTo>
                  <a:cubicBezTo>
                    <a:pt x="515" y="21600"/>
                    <a:pt x="38" y="12060"/>
                    <a:pt x="0" y="0"/>
                  </a:cubicBezTo>
                  <a:lnTo>
                    <a:pt x="10800" y="0"/>
                  </a:lnTo>
                  <a:lnTo>
                    <a:pt x="21600" y="0"/>
                  </a:lnTo>
                  <a:cubicBezTo>
                    <a:pt x="21562" y="12060"/>
                    <a:pt x="21084" y="21600"/>
                    <a:pt x="20500" y="21600"/>
                  </a:cubicBezTo>
                  <a:cubicBezTo>
                    <a:pt x="20500" y="21600"/>
                    <a:pt x="20500" y="21600"/>
                    <a:pt x="20500" y="21600"/>
                  </a:cubicBezTo>
                  <a:close/>
                </a:path>
              </a:pathLst>
            </a:custGeom>
            <a:solidFill>
              <a:srgbClr val="B5BBC9"/>
            </a:solidFill>
            <a:ln w="12700" cap="flat">
              <a:noFill/>
              <a:miter lim="400000"/>
            </a:ln>
            <a:effectLst/>
          </p:spPr>
          <p:txBody>
            <a:bodyPr wrap="square" lIns="38100" tIns="38100" rIns="38100" bIns="38100" numCol="1" anchor="ctr">
              <a:noAutofit/>
            </a:bodyPr>
            <a:lstStyle/>
            <a:p>
              <a:pPr defTabSz="45720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/>
            </a:p>
          </p:txBody>
        </p:sp>
        <p:sp>
          <p:nvSpPr>
            <p:cNvPr id="121" name="Shape 121"/>
            <p:cNvSpPr/>
            <p:nvPr/>
          </p:nvSpPr>
          <p:spPr>
            <a:xfrm>
              <a:off x="4250918" y="5212547"/>
              <a:ext cx="1413317" cy="1345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362" y="12319"/>
                    <a:pt x="20322" y="21600"/>
                    <a:pt x="19075" y="21600"/>
                  </a:cubicBezTo>
                  <a:lnTo>
                    <a:pt x="10825" y="21600"/>
                  </a:lnTo>
                  <a:lnTo>
                    <a:pt x="10825" y="21600"/>
                  </a:lnTo>
                  <a:lnTo>
                    <a:pt x="10777" y="21600"/>
                  </a:lnTo>
                  <a:lnTo>
                    <a:pt x="10777" y="21600"/>
                  </a:lnTo>
                  <a:lnTo>
                    <a:pt x="2526" y="21600"/>
                  </a:lnTo>
                  <a:cubicBezTo>
                    <a:pt x="1278" y="21600"/>
                    <a:pt x="239" y="12319"/>
                    <a:pt x="0" y="0"/>
                  </a:cubicBezTo>
                  <a:lnTo>
                    <a:pt x="10777" y="0"/>
                  </a:lnTo>
                  <a:lnTo>
                    <a:pt x="10777" y="0"/>
                  </a:lnTo>
                  <a:lnTo>
                    <a:pt x="10825" y="0"/>
                  </a:lnTo>
                  <a:lnTo>
                    <a:pt x="10825" y="0"/>
                  </a:lnTo>
                  <a:lnTo>
                    <a:pt x="21600" y="0"/>
                  </a:lnTo>
                  <a:cubicBezTo>
                    <a:pt x="21600" y="0"/>
                    <a:pt x="21600" y="0"/>
                    <a:pt x="21600" y="0"/>
                  </a:cubicBezTo>
                  <a:close/>
                </a:path>
              </a:pathLst>
            </a:custGeom>
            <a:solidFill>
              <a:srgbClr val="EBEBEB"/>
            </a:solidFill>
            <a:ln w="12700" cap="flat">
              <a:noFill/>
              <a:miter lim="400000"/>
            </a:ln>
            <a:effectLst/>
          </p:spPr>
          <p:txBody>
            <a:bodyPr wrap="square" lIns="38100" tIns="38100" rIns="38100" bIns="38100" numCol="1" anchor="ctr">
              <a:noAutofit/>
            </a:bodyPr>
            <a:lstStyle/>
            <a:p>
              <a:pPr defTabSz="45720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/>
            </a:p>
          </p:txBody>
        </p:sp>
        <p:sp>
          <p:nvSpPr>
            <p:cNvPr id="122" name="Shape 122"/>
            <p:cNvSpPr/>
            <p:nvPr/>
          </p:nvSpPr>
          <p:spPr>
            <a:xfrm>
              <a:off x="1282027" y="269034"/>
              <a:ext cx="7354750" cy="46744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1600"/>
                  </a:moveTo>
                  <a:lnTo>
                    <a:pt x="0" y="21600"/>
                  </a:lnTo>
                  <a:lnTo>
                    <a:pt x="0" y="21290"/>
                  </a:lnTo>
                  <a:lnTo>
                    <a:pt x="0" y="311"/>
                  </a:lnTo>
                  <a:lnTo>
                    <a:pt x="0" y="0"/>
                  </a:lnTo>
                  <a:lnTo>
                    <a:pt x="10800" y="0"/>
                  </a:lnTo>
                  <a:lnTo>
                    <a:pt x="21600" y="0"/>
                  </a:lnTo>
                  <a:lnTo>
                    <a:pt x="21600" y="311"/>
                  </a:lnTo>
                  <a:lnTo>
                    <a:pt x="21600" y="21290"/>
                  </a:lnTo>
                  <a:lnTo>
                    <a:pt x="21600" y="21600"/>
                  </a:lnTo>
                  <a:lnTo>
                    <a:pt x="10800" y="21600"/>
                  </a:lnTo>
                  <a:cubicBezTo>
                    <a:pt x="10800" y="21600"/>
                    <a:pt x="10800" y="21600"/>
                    <a:pt x="10800" y="21600"/>
                  </a:cubicBezTo>
                  <a:close/>
                </a:path>
              </a:pathLst>
            </a:custGeom>
            <a:solidFill>
              <a:srgbClr val="ABD955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1460500">
                <a:defRPr sz="4800" cap="all">
                  <a:solidFill>
                    <a:srgbClr val="FFFFFF"/>
                  </a:solidFill>
                  <a:latin typeface="Helvetica Neue Bold Condensed"/>
                  <a:ea typeface="Helvetica Neue Bold Condensed"/>
                  <a:cs typeface="Helvetica Neue Bold Condensed"/>
                  <a:sym typeface="Helvetica Neue Bold Condensed"/>
                </a:defRPr>
              </a:pPr>
              <a:r>
                <a:rPr lang="en-US" dirty="0" smtClean="0"/>
                <a:t>SHINSOO</a:t>
              </a:r>
              <a:r>
                <a:rPr dirty="0" smtClean="0"/>
                <a:t> </a:t>
              </a:r>
              <a:r>
                <a:rPr dirty="0"/>
                <a:t>solution</a:t>
              </a:r>
            </a:p>
            <a:p>
              <a:pPr defTabSz="1460500">
                <a:defRPr sz="4800" cap="all">
                  <a:solidFill>
                    <a:srgbClr val="FFFFFF"/>
                  </a:solidFill>
                  <a:latin typeface="Helvetica Neue Bold Condensed"/>
                  <a:ea typeface="Helvetica Neue Bold Condensed"/>
                  <a:cs typeface="Helvetica Neue Bold Condensed"/>
                  <a:sym typeface="Helvetica Neue Bold Condensed"/>
                </a:defRPr>
              </a:pPr>
              <a:r>
                <a:rPr dirty="0"/>
                <a:t>admin manual</a:t>
              </a:r>
            </a:p>
          </p:txBody>
        </p:sp>
        <p:sp>
          <p:nvSpPr>
            <p:cNvPr id="123" name="Shape 123"/>
            <p:cNvSpPr/>
            <p:nvPr/>
          </p:nvSpPr>
          <p:spPr>
            <a:xfrm>
              <a:off x="4891932" y="67259"/>
              <a:ext cx="115151" cy="114845"/>
            </a:xfrm>
            <a:prstGeom prst="ellipse">
              <a:avLst/>
            </a:prstGeom>
            <a:solidFill>
              <a:srgbClr val="B5BBC9"/>
            </a:solidFill>
            <a:ln w="12700" cap="flat">
              <a:noFill/>
              <a:miter lim="400000"/>
            </a:ln>
            <a:effectLst/>
          </p:spPr>
          <p:txBody>
            <a:bodyPr wrap="square" lIns="38100" tIns="38100" rIns="38100" bIns="38100" numCol="1" anchor="ctr">
              <a:noAutofit/>
            </a:bodyPr>
            <a:lstStyle/>
            <a:p>
              <a:pPr defTabSz="45720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/>
            </a:p>
          </p:txBody>
        </p:sp>
      </p:grpSp>
      <p:pic>
        <p:nvPicPr>
          <p:cNvPr id="125" name="logo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46061" y="1406971"/>
            <a:ext cx="2400301" cy="762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/>
          <p:nvPr/>
        </p:nvSpPr>
        <p:spPr>
          <a:xfrm>
            <a:off x="468452" y="304800"/>
            <a:ext cx="284769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/>
            </a:lvl1pPr>
          </a:lstStyle>
          <a:p>
            <a:r>
              <a:t>1. 신규 회원 처리하기</a:t>
            </a:r>
          </a:p>
        </p:txBody>
      </p:sp>
      <p:pic>
        <p:nvPicPr>
          <p:cNvPr id="128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2476" y="1423163"/>
            <a:ext cx="10799848" cy="5740809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Shape 129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30" name="Shape 130"/>
          <p:cNvSpPr/>
          <p:nvPr/>
        </p:nvSpPr>
        <p:spPr>
          <a:xfrm>
            <a:off x="559358" y="7596534"/>
            <a:ext cx="5779009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매 1분마다 자동으로 메인 화면이 리프레시 됩니다.</a:t>
            </a:r>
          </a:p>
          <a:p>
            <a:pPr algn="l">
              <a:defRPr sz="1800"/>
            </a:pPr>
            <a:r>
              <a:t>신규 회원이 있을 경우 신규 회원 숫자가 표시됩니다.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숫자를 클릭하면 회원 관리 &gt; 회원 리스트 화면으로 이동합니다. </a:t>
            </a:r>
          </a:p>
        </p:txBody>
      </p:sp>
      <p:sp>
        <p:nvSpPr>
          <p:cNvPr id="131" name="Shape 131"/>
          <p:cNvSpPr>
            <a:spLocks noGrp="1"/>
          </p:cNvSpPr>
          <p:nvPr>
            <p:ph type="sldNum" sz="quarter" idx="4294967295"/>
          </p:nvPr>
        </p:nvSpPr>
        <p:spPr>
          <a:xfrm>
            <a:off x="6377978" y="9251950"/>
            <a:ext cx="236144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34" name="Shape 134"/>
          <p:cNvSpPr/>
          <p:nvPr/>
        </p:nvSpPr>
        <p:spPr>
          <a:xfrm>
            <a:off x="5710311" y="5412958"/>
            <a:ext cx="7056785" cy="2318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algn="l">
              <a:defRPr sz="1800"/>
            </a:pPr>
            <a:r>
              <a:rPr dirty="0" err="1"/>
              <a:t>승인이</a:t>
            </a:r>
            <a:r>
              <a:rPr dirty="0"/>
              <a:t> </a:t>
            </a:r>
            <a:r>
              <a:rPr dirty="0" err="1"/>
              <a:t>안된</a:t>
            </a:r>
            <a:r>
              <a:rPr dirty="0"/>
              <a:t> </a:t>
            </a:r>
            <a:r>
              <a:rPr dirty="0" err="1"/>
              <a:t>회원의</a:t>
            </a:r>
            <a:r>
              <a:rPr dirty="0"/>
              <a:t> </a:t>
            </a:r>
            <a:r>
              <a:rPr dirty="0" err="1"/>
              <a:t>경우</a:t>
            </a:r>
            <a:r>
              <a:rPr dirty="0"/>
              <a:t> PAUSE 로 </a:t>
            </a:r>
            <a:r>
              <a:rPr dirty="0" err="1"/>
              <a:t>표시가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</a:t>
            </a:r>
            <a:br>
              <a:rPr dirty="0"/>
            </a:br>
            <a:r>
              <a:rPr dirty="0"/>
              <a:t>(</a:t>
            </a:r>
            <a:r>
              <a:rPr dirty="0" err="1"/>
              <a:t>승인되면</a:t>
            </a:r>
            <a:r>
              <a:rPr dirty="0"/>
              <a:t> OK </a:t>
            </a:r>
            <a:r>
              <a:rPr dirty="0" err="1"/>
              <a:t>표시</a:t>
            </a:r>
            <a:r>
              <a:rPr dirty="0"/>
              <a:t>)</a:t>
            </a:r>
          </a:p>
          <a:p>
            <a:pPr algn="l">
              <a:defRPr sz="1800"/>
            </a:pPr>
            <a:endParaRPr dirty="0"/>
          </a:p>
          <a:p>
            <a:pPr marL="317500" indent="-317500" algn="l">
              <a:buSzPct val="100000"/>
              <a:buAutoNum type="arabicPeriod"/>
              <a:defRPr sz="1800"/>
            </a:pPr>
            <a:r>
              <a:rPr dirty="0" err="1"/>
              <a:t>좌측</a:t>
            </a:r>
            <a:r>
              <a:rPr dirty="0"/>
              <a:t> </a:t>
            </a:r>
            <a:r>
              <a:rPr dirty="0" err="1"/>
              <a:t>아이디를</a:t>
            </a:r>
            <a:r>
              <a:rPr dirty="0"/>
              <a:t> </a:t>
            </a:r>
            <a:r>
              <a:rPr dirty="0" err="1"/>
              <a:t>클릭하면</a:t>
            </a:r>
            <a:r>
              <a:rPr dirty="0"/>
              <a:t> </a:t>
            </a:r>
            <a:r>
              <a:rPr dirty="0" err="1"/>
              <a:t>회원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 </a:t>
            </a:r>
            <a:r>
              <a:rPr dirty="0" err="1"/>
              <a:t>창이</a:t>
            </a:r>
            <a:r>
              <a:rPr dirty="0"/>
              <a:t> </a:t>
            </a:r>
            <a:r>
              <a:rPr dirty="0" err="1"/>
              <a:t>뜹니다</a:t>
            </a:r>
            <a:r>
              <a:rPr dirty="0"/>
              <a:t>.</a:t>
            </a:r>
          </a:p>
          <a:p>
            <a:pPr marL="317500" indent="-317500" algn="l">
              <a:buSzPct val="100000"/>
              <a:buAutoNum type="arabicPeriod"/>
              <a:defRPr sz="1800"/>
            </a:pPr>
            <a:r>
              <a:rPr dirty="0" err="1"/>
              <a:t>하단에서</a:t>
            </a:r>
            <a:r>
              <a:rPr dirty="0"/>
              <a:t> </a:t>
            </a:r>
            <a:r>
              <a:rPr dirty="0" err="1"/>
              <a:t>승인에</a:t>
            </a:r>
            <a:r>
              <a:rPr dirty="0"/>
              <a:t> </a:t>
            </a:r>
            <a:r>
              <a:rPr dirty="0" err="1"/>
              <a:t>체크</a:t>
            </a:r>
            <a:r>
              <a:rPr dirty="0"/>
              <a:t> 후 “</a:t>
            </a:r>
            <a:r>
              <a:rPr dirty="0" err="1"/>
              <a:t>수정</a:t>
            </a:r>
            <a:r>
              <a:rPr dirty="0"/>
              <a:t>” </a:t>
            </a:r>
            <a:r>
              <a:rPr dirty="0" err="1"/>
              <a:t>버튼을</a:t>
            </a:r>
            <a:r>
              <a:rPr dirty="0"/>
              <a:t> </a:t>
            </a:r>
            <a:r>
              <a:rPr dirty="0" err="1"/>
              <a:t>누르면</a:t>
            </a:r>
            <a:r>
              <a:rPr dirty="0"/>
              <a:t> </a:t>
            </a:r>
            <a:r>
              <a:rPr dirty="0" err="1"/>
              <a:t>승인처리됩니다</a:t>
            </a:r>
            <a:r>
              <a:rPr dirty="0"/>
              <a:t>.</a:t>
            </a:r>
          </a:p>
          <a:p>
            <a:pPr algn="l">
              <a:defRPr sz="1800"/>
            </a:pPr>
            <a:endParaRPr dirty="0"/>
          </a:p>
          <a:p>
            <a:pPr algn="l">
              <a:defRPr sz="1800"/>
            </a:pPr>
            <a:r>
              <a:rPr dirty="0" err="1"/>
              <a:t>업체별로</a:t>
            </a:r>
            <a:r>
              <a:rPr dirty="0"/>
              <a:t> </a:t>
            </a:r>
            <a:r>
              <a:rPr dirty="0" err="1"/>
              <a:t>제품의</a:t>
            </a:r>
            <a:r>
              <a:rPr dirty="0"/>
              <a:t> </a:t>
            </a:r>
            <a:r>
              <a:rPr dirty="0" err="1"/>
              <a:t>공급가를</a:t>
            </a:r>
            <a:r>
              <a:rPr dirty="0"/>
              <a:t> </a:t>
            </a:r>
            <a:r>
              <a:rPr dirty="0" err="1"/>
              <a:t>다르게</a:t>
            </a:r>
            <a:r>
              <a:rPr dirty="0"/>
              <a:t> </a:t>
            </a:r>
            <a:r>
              <a:rPr dirty="0" err="1"/>
              <a:t>하려면</a:t>
            </a:r>
            <a:r>
              <a:rPr dirty="0"/>
              <a:t> </a:t>
            </a:r>
            <a:r>
              <a:rPr dirty="0" err="1"/>
              <a:t>기본할인율에</a:t>
            </a:r>
            <a:r>
              <a:rPr dirty="0"/>
              <a:t> </a:t>
            </a:r>
            <a:r>
              <a:rPr dirty="0" err="1"/>
              <a:t>할인율을</a:t>
            </a:r>
            <a:r>
              <a:rPr dirty="0"/>
              <a:t> </a:t>
            </a:r>
            <a:br>
              <a:rPr dirty="0"/>
            </a:br>
            <a:r>
              <a:rPr dirty="0" err="1"/>
              <a:t>입력합니다</a:t>
            </a:r>
            <a:r>
              <a:rPr dirty="0"/>
              <a:t>.</a:t>
            </a:r>
          </a:p>
        </p:txBody>
      </p:sp>
      <p:pic>
        <p:nvPicPr>
          <p:cNvPr id="135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41760" y="5734860"/>
            <a:ext cx="4445000" cy="2021173"/>
          </a:xfrm>
          <a:prstGeom prst="rect">
            <a:avLst/>
          </a:prstGeom>
          <a:ln w="12700">
            <a:miter lim="400000"/>
          </a:ln>
        </p:spPr>
      </p:pic>
      <p:sp>
        <p:nvSpPr>
          <p:cNvPr id="136" name="Shape 136"/>
          <p:cNvSpPr/>
          <p:nvPr/>
        </p:nvSpPr>
        <p:spPr>
          <a:xfrm>
            <a:off x="468452" y="304800"/>
            <a:ext cx="284769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1. 신규 회원 처리하기</a:t>
            </a:r>
          </a:p>
        </p:txBody>
      </p:sp>
      <p:sp>
        <p:nvSpPr>
          <p:cNvPr id="137" name="Shape 137"/>
          <p:cNvSpPr>
            <a:spLocks noGrp="1"/>
          </p:cNvSpPr>
          <p:nvPr>
            <p:ph type="sldNum" sz="quarter" idx="4294967295"/>
          </p:nvPr>
        </p:nvSpPr>
        <p:spPr>
          <a:xfrm>
            <a:off x="6377635" y="9251950"/>
            <a:ext cx="236830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  <p:pic>
        <p:nvPicPr>
          <p:cNvPr id="138" name="pasted-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04900" y="1797050"/>
            <a:ext cx="10795000" cy="3175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140"/>
          <p:cNvSpPr/>
          <p:nvPr/>
        </p:nvSpPr>
        <p:spPr>
          <a:xfrm>
            <a:off x="477494" y="304800"/>
            <a:ext cx="290581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2. 신규 주문 처리하기</a:t>
            </a:r>
          </a:p>
        </p:txBody>
      </p:sp>
      <p:sp>
        <p:nvSpPr>
          <p:cNvPr id="141" name="Shape 141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42" name="Shape 142"/>
          <p:cNvSpPr/>
          <p:nvPr/>
        </p:nvSpPr>
        <p:spPr>
          <a:xfrm>
            <a:off x="559358" y="7596534"/>
            <a:ext cx="5779009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매 1분마다 자동으로 메인 화면이 리프레시 됩니다.</a:t>
            </a:r>
          </a:p>
          <a:p>
            <a:pPr algn="l">
              <a:defRPr sz="1800"/>
            </a:pPr>
            <a:r>
              <a:t>신규주문이 있을 경우 신규 주문 숫자가 표시됩니다.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숫자를 클릭하면 주문 관리 &gt; 주문 리스트 화면으로 이동합니다. </a:t>
            </a:r>
          </a:p>
        </p:txBody>
      </p:sp>
      <p:pic>
        <p:nvPicPr>
          <p:cNvPr id="143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1424451"/>
            <a:ext cx="10795000" cy="5738233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Shape 144"/>
          <p:cNvSpPr>
            <a:spLocks noGrp="1"/>
          </p:cNvSpPr>
          <p:nvPr>
            <p:ph type="sldNum" sz="quarter" idx="4294967295"/>
          </p:nvPr>
        </p:nvSpPr>
        <p:spPr>
          <a:xfrm>
            <a:off x="6375463" y="9251950"/>
            <a:ext cx="241174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/>
          </a:p>
        </p:txBody>
      </p:sp>
    </p:spTree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146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47" name="Shape 147"/>
          <p:cNvSpPr/>
          <p:nvPr/>
        </p:nvSpPr>
        <p:spPr>
          <a:xfrm>
            <a:off x="572058" y="5721350"/>
            <a:ext cx="5587214" cy="901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주문일을 클릭하면 해당 주문의 상세내역을 볼 수 있습니다.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업체명을 클릭하면 해당 업체만의 주문 목록을 볼 수 있습니다.</a:t>
            </a:r>
          </a:p>
        </p:txBody>
      </p:sp>
      <p:sp>
        <p:nvSpPr>
          <p:cNvPr id="148" name="Shape 148"/>
          <p:cNvSpPr/>
          <p:nvPr/>
        </p:nvSpPr>
        <p:spPr>
          <a:xfrm>
            <a:off x="477494" y="304800"/>
            <a:ext cx="290581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2. 신규 주문 처리하기</a:t>
            </a:r>
          </a:p>
        </p:txBody>
      </p:sp>
      <p:sp>
        <p:nvSpPr>
          <p:cNvPr id="149" name="Shape 149"/>
          <p:cNvSpPr>
            <a:spLocks noGrp="1"/>
          </p:cNvSpPr>
          <p:nvPr>
            <p:ph type="sldNum" sz="quarter" idx="4294967295"/>
          </p:nvPr>
        </p:nvSpPr>
        <p:spPr>
          <a:xfrm>
            <a:off x="6382207" y="9251950"/>
            <a:ext cx="227686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5</a:t>
            </a:fld>
            <a:endParaRPr/>
          </a:p>
        </p:txBody>
      </p:sp>
      <p:pic>
        <p:nvPicPr>
          <p:cNvPr id="150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1993900"/>
            <a:ext cx="10795000" cy="31496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152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53" name="Shape 153"/>
          <p:cNvSpPr/>
          <p:nvPr/>
        </p:nvSpPr>
        <p:spPr>
          <a:xfrm>
            <a:off x="864158" y="7714027"/>
            <a:ext cx="10637674" cy="143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주문 상세내역에서는 명세서를 출력하거나 엑셀로 다운받아 수정할 수 있습니다.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수량을 변경하고 싶을 때는 수량변경 란에 숫자를 입력 후 변경 버튼을 누르면 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1회성으로 해당 주문건의 공급가만 변경하고 싶을 때에도 공급가변경 란에 공급가 입력 후 변경 버튼을을 누르면 됩니다.</a:t>
            </a:r>
          </a:p>
        </p:txBody>
      </p:sp>
      <p:pic>
        <p:nvPicPr>
          <p:cNvPr id="154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5494" y="1291657"/>
            <a:ext cx="10795001" cy="5930814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Shape 155"/>
          <p:cNvSpPr/>
          <p:nvPr/>
        </p:nvSpPr>
        <p:spPr>
          <a:xfrm>
            <a:off x="477494" y="304800"/>
            <a:ext cx="290581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2. 신규 주문 처리하기</a:t>
            </a:r>
          </a:p>
        </p:txBody>
      </p:sp>
      <p:sp>
        <p:nvSpPr>
          <p:cNvPr id="156" name="Shape 156"/>
          <p:cNvSpPr>
            <a:spLocks noGrp="1"/>
          </p:cNvSpPr>
          <p:nvPr>
            <p:ph type="sldNum" sz="quarter" idx="4294967295"/>
          </p:nvPr>
        </p:nvSpPr>
        <p:spPr>
          <a:xfrm>
            <a:off x="6376149" y="9251950"/>
            <a:ext cx="239802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</p:spTree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158"/>
          <p:cNvSpPr/>
          <p:nvPr/>
        </p:nvSpPr>
        <p:spPr>
          <a:xfrm>
            <a:off x="502399" y="298319"/>
            <a:ext cx="290680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3. 신규 상품 등록하기</a:t>
            </a:r>
          </a:p>
        </p:txBody>
      </p:sp>
      <p:sp>
        <p:nvSpPr>
          <p:cNvPr id="159" name="Shape 159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60" name="Shape 160"/>
          <p:cNvSpPr/>
          <p:nvPr/>
        </p:nvSpPr>
        <p:spPr>
          <a:xfrm>
            <a:off x="864158" y="7069280"/>
            <a:ext cx="6858281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새로 상품을 등록할 때는 좌측의 상품 관리 &gt; 상품 등록 메뉴를 클릭합니다.</a:t>
            </a:r>
          </a:p>
          <a:p>
            <a:pPr algn="l">
              <a:defRPr sz="1800"/>
            </a:pPr>
            <a:r>
              <a:t>필요한 항목들의 내용을 입력하고 하단의 “등록” 버튼을 누르면 등록됩니다.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상품 간략설명 란에 간단하게 내용 입력을 하면 우측에서처럼 홈페이지 </a:t>
            </a:r>
            <a:br/>
            <a:r>
              <a:t>상품설명 페이지에 표시됩니다.</a:t>
            </a:r>
          </a:p>
          <a:p>
            <a:pPr algn="l">
              <a:defRPr sz="1800"/>
            </a:pPr>
            <a:endParaRPr/>
          </a:p>
          <a:p>
            <a:pPr marL="222250" indent="-222250" algn="l">
              <a:buSzPct val="75000"/>
              <a:buChar char="-"/>
              <a:defRPr sz="1800"/>
            </a:pPr>
            <a:r>
              <a:t>상세설명란은 사용되지 않으므로 비워두어도 무방합니다.</a:t>
            </a:r>
          </a:p>
          <a:p>
            <a:pPr marL="222250" indent="-222250" algn="l">
              <a:buSzPct val="75000"/>
              <a:buChar char="-"/>
              <a:defRPr sz="1800"/>
            </a:pPr>
            <a:r>
              <a:t>상단 상품등록 관리 칸에서는 상품을 표시않거나 품절처리 할 수 있습니다.</a:t>
            </a:r>
          </a:p>
        </p:txBody>
      </p:sp>
      <p:pic>
        <p:nvPicPr>
          <p:cNvPr id="161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25449" y="1302952"/>
            <a:ext cx="7721491" cy="52569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62" name="pasted-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545448" y="7062800"/>
            <a:ext cx="3252853" cy="2248163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Shape 163"/>
          <p:cNvSpPr>
            <a:spLocks noGrp="1"/>
          </p:cNvSpPr>
          <p:nvPr>
            <p:ph type="sldNum" sz="quarter" idx="4294967295"/>
          </p:nvPr>
        </p:nvSpPr>
        <p:spPr>
          <a:xfrm>
            <a:off x="6383464" y="9251950"/>
            <a:ext cx="225172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</p:spTree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165"/>
          <p:cNvSpPr/>
          <p:nvPr/>
        </p:nvSpPr>
        <p:spPr>
          <a:xfrm>
            <a:off x="494995" y="292100"/>
            <a:ext cx="254061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4. 업체별 정산하기</a:t>
            </a:r>
          </a:p>
        </p:txBody>
      </p:sp>
      <p:sp>
        <p:nvSpPr>
          <p:cNvPr id="166" name="Shape 166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67" name="Shape 167"/>
          <p:cNvSpPr/>
          <p:nvPr/>
        </p:nvSpPr>
        <p:spPr>
          <a:xfrm>
            <a:off x="635558" y="6758562"/>
            <a:ext cx="9249386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각 업체별 정산은 좌측 정산 관리 &gt; 업체별 정산관리 메뉴를 클릭합니다.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우측의 업체 목록에서 정산할 업체의 아이디를 클릭하면 해당 업체의 정산 리스트 화면으로 넘어갑니다.</a:t>
            </a:r>
          </a:p>
        </p:txBody>
      </p:sp>
      <p:sp>
        <p:nvSpPr>
          <p:cNvPr id="168" name="Shape 168"/>
          <p:cNvSpPr>
            <a:spLocks noGrp="1"/>
          </p:cNvSpPr>
          <p:nvPr>
            <p:ph type="sldNum" sz="quarter" idx="4294967295"/>
          </p:nvPr>
        </p:nvSpPr>
        <p:spPr>
          <a:xfrm>
            <a:off x="6373520" y="9251950"/>
            <a:ext cx="245060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  <p:pic>
        <p:nvPicPr>
          <p:cNvPr id="169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1874331"/>
            <a:ext cx="10795000" cy="40005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171"/>
          <p:cNvSpPr/>
          <p:nvPr/>
        </p:nvSpPr>
        <p:spPr>
          <a:xfrm>
            <a:off x="530136" y="292100"/>
            <a:ext cx="252112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5. 기간별 정산하기</a:t>
            </a:r>
          </a:p>
        </p:txBody>
      </p:sp>
      <p:sp>
        <p:nvSpPr>
          <p:cNvPr id="172" name="Shape 172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73" name="Shape 173"/>
          <p:cNvSpPr/>
          <p:nvPr/>
        </p:nvSpPr>
        <p:spPr>
          <a:xfrm>
            <a:off x="635558" y="6225162"/>
            <a:ext cx="10915880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기간별 정산은 좌측 정산 관리 &gt; 기간별 정산관리 메뉴를 클릭합니다.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우측화면에서 검색할 기간을 설정 후 검색 버튼을 누릅니다.</a:t>
            </a:r>
          </a:p>
          <a:p>
            <a:pPr algn="l">
              <a:defRPr sz="1800"/>
            </a:pPr>
            <a:r>
              <a:t>해당 기간 내 정산할 업체 목록이 표시됩니다.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정산금액 등을 확인 후 하단 “홈택스 업로드용 엑셀로 저장하기”를 누르면 홈택스에서 한번에 세금계산서를 발행할 수 있는</a:t>
            </a:r>
          </a:p>
          <a:p>
            <a:pPr algn="l">
              <a:defRPr sz="1800"/>
            </a:pPr>
            <a:r>
              <a:t>양식으로 저장이 됩니다.</a:t>
            </a:r>
          </a:p>
          <a:p>
            <a:pPr algn="l">
              <a:defRPr sz="1800"/>
            </a:pPr>
            <a:r>
              <a:t>해당 양식을 홈택스 사이트에서 업로드하면 일괄적으로 세금계산서가 발행됩니다.</a:t>
            </a:r>
          </a:p>
        </p:txBody>
      </p:sp>
      <p:sp>
        <p:nvSpPr>
          <p:cNvPr id="174" name="Shape 174"/>
          <p:cNvSpPr>
            <a:spLocks noGrp="1"/>
          </p:cNvSpPr>
          <p:nvPr>
            <p:ph type="sldNum" sz="quarter" idx="4294967295"/>
          </p:nvPr>
        </p:nvSpPr>
        <p:spPr>
          <a:xfrm>
            <a:off x="6376149" y="9251950"/>
            <a:ext cx="239802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  <p:pic>
        <p:nvPicPr>
          <p:cNvPr id="175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1826775"/>
            <a:ext cx="10795000" cy="36068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177"/>
          <p:cNvSpPr/>
          <p:nvPr/>
        </p:nvSpPr>
        <p:spPr>
          <a:xfrm>
            <a:off x="487806" y="266700"/>
            <a:ext cx="405358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6. 회원업체 비밀번호 변경하기</a:t>
            </a:r>
          </a:p>
        </p:txBody>
      </p:sp>
      <p:sp>
        <p:nvSpPr>
          <p:cNvPr id="178" name="Shape 178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79" name="Shape 179"/>
          <p:cNvSpPr/>
          <p:nvPr/>
        </p:nvSpPr>
        <p:spPr>
          <a:xfrm>
            <a:off x="635558" y="7188199"/>
            <a:ext cx="12173408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비밀번호 분실 등으로 회원 업체의 비밀번호 변경 시에는 회원 관리 &gt; 회원 리스트 클릭 후 우측 화면에서 해당 업체의 아이디 클릭.</a:t>
            </a:r>
          </a:p>
          <a:p>
            <a:pPr algn="l">
              <a:defRPr sz="1800"/>
            </a:pPr>
            <a:r>
              <a:t>새로운 창이 뜨면 “비밀번호 변경 시에만 체크”에 체크 한 후 1234 등 쉬운 숫자로 입력 후 하단 수정 버튼을 눌러 변경사항을 저장합니다.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(회원 업체는 로그인 후 정보수정 페이지에서 비밀번호를 변경합니다.)</a:t>
            </a:r>
          </a:p>
        </p:txBody>
      </p:sp>
      <p:sp>
        <p:nvSpPr>
          <p:cNvPr id="180" name="Shape 180"/>
          <p:cNvSpPr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  <p:pic>
        <p:nvPicPr>
          <p:cNvPr id="181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78350" y="1473200"/>
            <a:ext cx="7251700" cy="4622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" name="pasted-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25550" y="2660650"/>
            <a:ext cx="2578100" cy="22479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184"/>
          <p:cNvSpPr/>
          <p:nvPr/>
        </p:nvSpPr>
        <p:spPr>
          <a:xfrm>
            <a:off x="516140" y="241300"/>
            <a:ext cx="280312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7. 판매현황 확인하기</a:t>
            </a:r>
          </a:p>
        </p:txBody>
      </p:sp>
      <p:sp>
        <p:nvSpPr>
          <p:cNvPr id="185" name="Shape 185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86" name="Shape 186"/>
          <p:cNvSpPr/>
          <p:nvPr/>
        </p:nvSpPr>
        <p:spPr>
          <a:xfrm>
            <a:off x="635558" y="7512050"/>
            <a:ext cx="9483929" cy="901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주문 관리 &gt; 판매현황 페이지에서 날짜 검색 후 해당 기간 안의 판매 수량과 금액 등을 확인할 수 있습니다.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(별도로 날짜를 지정하지 않을 경우, 당일 발송완료된 주문건에 대한 판매현황이 표시됩니다.)</a:t>
            </a:r>
          </a:p>
        </p:txBody>
      </p:sp>
      <p:sp>
        <p:nvSpPr>
          <p:cNvPr id="187" name="Shape 187"/>
          <p:cNvSpPr>
            <a:spLocks noGrp="1"/>
          </p:cNvSpPr>
          <p:nvPr>
            <p:ph type="sldNum" sz="quarter" idx="4294967295"/>
          </p:nvPr>
        </p:nvSpPr>
        <p:spPr>
          <a:xfrm>
            <a:off x="6357289" y="9251950"/>
            <a:ext cx="277522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11</a:t>
            </a:fld>
            <a:endParaRPr/>
          </a:p>
        </p:txBody>
      </p:sp>
      <p:pic>
        <p:nvPicPr>
          <p:cNvPr id="188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9800" y="1412483"/>
            <a:ext cx="10795000" cy="573022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/>
          <p:nvPr/>
        </p:nvSpPr>
        <p:spPr>
          <a:xfrm>
            <a:off x="556844" y="254000"/>
            <a:ext cx="320431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8. 택배 운송장 일괄출력</a:t>
            </a:r>
          </a:p>
        </p:txBody>
      </p:sp>
      <p:sp>
        <p:nvSpPr>
          <p:cNvPr id="191" name="Shape 191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92" name="Shape 192"/>
          <p:cNvSpPr/>
          <p:nvPr/>
        </p:nvSpPr>
        <p:spPr>
          <a:xfrm>
            <a:off x="635558" y="7378699"/>
            <a:ext cx="7409613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택배 발송 시 모든 주문건에 대한 운송장을 한꺼번에 출력할 수 있는 페이지입니다.</a:t>
            </a:r>
          </a:p>
          <a:p>
            <a:pPr algn="l">
              <a:defRPr sz="1800"/>
            </a:pPr>
            <a:r>
              <a:t>(택배사에 맞춰 엑셀 양식은 별도로 조정해야 합니다.)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엑셀파일을 출력 후 계약 택배사의 운송장 출력프로그램에 업로드하면 됩니다.</a:t>
            </a:r>
          </a:p>
        </p:txBody>
      </p:sp>
      <p:sp>
        <p:nvSpPr>
          <p:cNvPr id="193" name="Shape 193"/>
          <p:cNvSpPr>
            <a:spLocks noGrp="1"/>
          </p:cNvSpPr>
          <p:nvPr>
            <p:ph type="sldNum" sz="quarter" idx="4294967295"/>
          </p:nvPr>
        </p:nvSpPr>
        <p:spPr>
          <a:xfrm>
            <a:off x="6337172" y="9251950"/>
            <a:ext cx="317755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12</a:t>
            </a:fld>
            <a:endParaRPr/>
          </a:p>
        </p:txBody>
      </p:sp>
      <p:pic>
        <p:nvPicPr>
          <p:cNvPr id="194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1820066"/>
            <a:ext cx="10795000" cy="486251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96"/>
          <p:cNvSpPr/>
          <p:nvPr/>
        </p:nvSpPr>
        <p:spPr>
          <a:xfrm>
            <a:off x="606120" y="266700"/>
            <a:ext cx="328356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9. 택배 운송장 번호 입력</a:t>
            </a:r>
          </a:p>
        </p:txBody>
      </p:sp>
      <p:sp>
        <p:nvSpPr>
          <p:cNvPr id="197" name="Shape 197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198" name="Shape 198"/>
          <p:cNvSpPr/>
          <p:nvPr/>
        </p:nvSpPr>
        <p:spPr>
          <a:xfrm>
            <a:off x="635558" y="6779809"/>
            <a:ext cx="6498413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1800"/>
            </a:lvl1pPr>
          </a:lstStyle>
          <a:p>
            <a:r>
              <a:t>택배 발송 완료 후 주문건들의 운송장 번호를 하나씩 입력할 수 있습니다.</a:t>
            </a:r>
          </a:p>
        </p:txBody>
      </p:sp>
      <p:sp>
        <p:nvSpPr>
          <p:cNvPr id="199" name="Shape 199"/>
          <p:cNvSpPr>
            <a:spLocks noGrp="1"/>
          </p:cNvSpPr>
          <p:nvPr>
            <p:ph type="sldNum" sz="quarter" idx="4294967295"/>
          </p:nvPr>
        </p:nvSpPr>
        <p:spPr>
          <a:xfrm>
            <a:off x="6336830" y="9251950"/>
            <a:ext cx="318440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13</a:t>
            </a:fld>
            <a:endParaRPr/>
          </a:p>
        </p:txBody>
      </p:sp>
      <p:pic>
        <p:nvPicPr>
          <p:cNvPr id="200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2081175"/>
            <a:ext cx="10795000" cy="36080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202"/>
          <p:cNvSpPr/>
          <p:nvPr/>
        </p:nvSpPr>
        <p:spPr>
          <a:xfrm>
            <a:off x="439178" y="254000"/>
            <a:ext cx="399844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10. 택배 운송장 번호 일괄입력</a:t>
            </a:r>
          </a:p>
        </p:txBody>
      </p:sp>
      <p:sp>
        <p:nvSpPr>
          <p:cNvPr id="203" name="Shape 203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204" name="Shape 204"/>
          <p:cNvSpPr/>
          <p:nvPr/>
        </p:nvSpPr>
        <p:spPr>
          <a:xfrm>
            <a:off x="648258" y="7268759"/>
            <a:ext cx="10268485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택배 발송 건이 다량인 경우에는 계약 택배사의 발송내역을 csv 파일형식으로 다운받아 일괄 업로드할 수 있습니다.</a:t>
            </a:r>
          </a:p>
          <a:p>
            <a:pPr algn="l">
              <a:defRPr sz="1800"/>
            </a:pPr>
            <a:r>
              <a:t>(택배사의 csv 파일에 맞춰 프로그래밍을 다시 해줘야 처리가 가능합니다.)</a:t>
            </a:r>
          </a:p>
        </p:txBody>
      </p:sp>
      <p:sp>
        <p:nvSpPr>
          <p:cNvPr id="205" name="Shape 205"/>
          <p:cNvSpPr>
            <a:spLocks noGrp="1"/>
          </p:cNvSpPr>
          <p:nvPr>
            <p:ph type="sldNum" sz="quarter" idx="4294967295"/>
          </p:nvPr>
        </p:nvSpPr>
        <p:spPr>
          <a:xfrm>
            <a:off x="6334658" y="9251950"/>
            <a:ext cx="322784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  <p:pic>
        <p:nvPicPr>
          <p:cNvPr id="206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1955800"/>
            <a:ext cx="10795000" cy="484070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208"/>
          <p:cNvSpPr/>
          <p:nvPr/>
        </p:nvSpPr>
        <p:spPr>
          <a:xfrm>
            <a:off x="483755" y="254000"/>
            <a:ext cx="355828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11. 카테고리 등록/수정하기</a:t>
            </a:r>
          </a:p>
        </p:txBody>
      </p:sp>
      <p:sp>
        <p:nvSpPr>
          <p:cNvPr id="209" name="Shape 209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210" name="Shape 210"/>
          <p:cNvSpPr/>
          <p:nvPr/>
        </p:nvSpPr>
        <p:spPr>
          <a:xfrm>
            <a:off x="635558" y="7675159"/>
            <a:ext cx="1114333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카테고리를 등록 하기 전에 외부 공급업체가 별도로 있는 경우에는 공급업체 관리 &gt; 공급업체 등록에서 먼저 등록해야합니다.</a:t>
            </a:r>
          </a:p>
          <a:p>
            <a:pPr algn="l">
              <a:defRPr sz="1800"/>
            </a:pPr>
            <a:r>
              <a:t>공급업체가 등록된 경우에는 업체명을 클릭해 선택해 줍니다.</a:t>
            </a:r>
          </a:p>
        </p:txBody>
      </p:sp>
      <p:sp>
        <p:nvSpPr>
          <p:cNvPr id="211" name="Shape 211"/>
          <p:cNvSpPr>
            <a:spLocks noGrp="1"/>
          </p:cNvSpPr>
          <p:nvPr>
            <p:ph type="sldNum" sz="quarter" idx="4294967295"/>
          </p:nvPr>
        </p:nvSpPr>
        <p:spPr>
          <a:xfrm>
            <a:off x="6341402" y="9251950"/>
            <a:ext cx="309296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  <p:pic>
        <p:nvPicPr>
          <p:cNvPr id="212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1714500"/>
            <a:ext cx="10795000" cy="55447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214"/>
          <p:cNvSpPr/>
          <p:nvPr/>
        </p:nvSpPr>
        <p:spPr>
          <a:xfrm>
            <a:off x="483755" y="254000"/>
            <a:ext cx="453865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12. 회원업체에 전체 메일 발송하기</a:t>
            </a:r>
          </a:p>
        </p:txBody>
      </p:sp>
      <p:sp>
        <p:nvSpPr>
          <p:cNvPr id="215" name="Shape 215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216" name="Shape 216"/>
          <p:cNvSpPr/>
          <p:nvPr/>
        </p:nvSpPr>
        <p:spPr>
          <a:xfrm>
            <a:off x="660958" y="6957895"/>
            <a:ext cx="7481165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가입 회원업체에 전체메일을 발송할 경우 회원 관리 &gt; 전체메일 발송을 클릭합니다.</a:t>
            </a:r>
          </a:p>
          <a:p>
            <a:pPr algn="l">
              <a:defRPr sz="1800"/>
            </a:pPr>
            <a:r>
              <a:t>우측 화면에서 보내고자 하는 업체에 체크한 후 메일 보내기 버튼을 누릅니다.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4294967295"/>
          </p:nvPr>
        </p:nvSpPr>
        <p:spPr>
          <a:xfrm>
            <a:off x="6335344" y="9251950"/>
            <a:ext cx="321412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16</a:t>
            </a:fld>
            <a:endParaRPr/>
          </a:p>
        </p:txBody>
      </p:sp>
      <p:pic>
        <p:nvPicPr>
          <p:cNvPr id="218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04900" y="2033782"/>
            <a:ext cx="10795000" cy="32650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Shape 220"/>
          <p:cNvSpPr/>
          <p:nvPr/>
        </p:nvSpPr>
        <p:spPr>
          <a:xfrm>
            <a:off x="483755" y="254000"/>
            <a:ext cx="35959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13. 외부 공급업체 등록하기</a:t>
            </a:r>
          </a:p>
        </p:txBody>
      </p:sp>
      <p:sp>
        <p:nvSpPr>
          <p:cNvPr id="221" name="Shape 221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222" name="Shape 222"/>
          <p:cNvSpPr/>
          <p:nvPr/>
        </p:nvSpPr>
        <p:spPr>
          <a:xfrm>
            <a:off x="660958" y="6957895"/>
            <a:ext cx="1023213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외부에서 소싱하는 공급업체가 별도로 있을 경우에는 공급업체 관리 &gt; 공급업체 등록을 통해 아이디를 발급합니다.</a:t>
            </a:r>
          </a:p>
          <a:p>
            <a:pPr algn="l">
              <a:defRPr sz="1800"/>
            </a:pPr>
            <a:r>
              <a:t>해당 업체에 어드민 페이지를 통해 발주를 할 수 있습니다.</a:t>
            </a:r>
          </a:p>
        </p:txBody>
      </p:sp>
      <p:sp>
        <p:nvSpPr>
          <p:cNvPr id="223" name="Shape 223"/>
          <p:cNvSpPr>
            <a:spLocks noGrp="1"/>
          </p:cNvSpPr>
          <p:nvPr>
            <p:ph type="sldNum" sz="quarter" idx="4294967295"/>
          </p:nvPr>
        </p:nvSpPr>
        <p:spPr>
          <a:xfrm>
            <a:off x="6342659" y="9251950"/>
            <a:ext cx="306782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17</a:t>
            </a:fld>
            <a:endParaRPr/>
          </a:p>
        </p:txBody>
      </p:sp>
      <p:pic>
        <p:nvPicPr>
          <p:cNvPr id="224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74700" y="2292350"/>
            <a:ext cx="2590800" cy="199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25" name="pasted-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38600" y="1688247"/>
            <a:ext cx="7995821" cy="39865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227"/>
          <p:cNvSpPr/>
          <p:nvPr/>
        </p:nvSpPr>
        <p:spPr>
          <a:xfrm>
            <a:off x="483755" y="254000"/>
            <a:ext cx="388782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14. 외부 공급업체에 발주하기</a:t>
            </a:r>
          </a:p>
        </p:txBody>
      </p:sp>
      <p:sp>
        <p:nvSpPr>
          <p:cNvPr id="228" name="Shape 228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229" name="Shape 229"/>
          <p:cNvSpPr/>
          <p:nvPr/>
        </p:nvSpPr>
        <p:spPr>
          <a:xfrm>
            <a:off x="673658" y="6843595"/>
            <a:ext cx="8770469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외부 공급업체가 등록된 경우 발주 관리 &gt; 발주서 작성 및 내역보기를 통해 발주를 할 수 있습니다.</a:t>
            </a:r>
          </a:p>
          <a:p>
            <a:pPr algn="l">
              <a:defRPr sz="1800"/>
            </a:pPr>
            <a:r>
              <a:t>업체를 선택하고 발주서를 작성합니다.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해당 공급업체는 </a:t>
            </a:r>
            <a:r>
              <a:rPr u="sng">
                <a:hlinkClick r:id="rId2"/>
              </a:rPr>
              <a:t>http://www.smedics.co.kr/scm</a:t>
            </a:r>
            <a:r>
              <a:t> 을 통해 접속하여 발주를 확인합니다.</a:t>
            </a:r>
          </a:p>
        </p:txBody>
      </p:sp>
      <p:sp>
        <p:nvSpPr>
          <p:cNvPr id="230" name="Shape 230"/>
          <p:cNvSpPr>
            <a:spLocks noGrp="1"/>
          </p:cNvSpPr>
          <p:nvPr>
            <p:ph type="sldNum" sz="quarter" idx="4294967295"/>
          </p:nvPr>
        </p:nvSpPr>
        <p:spPr>
          <a:xfrm>
            <a:off x="6332715" y="9251950"/>
            <a:ext cx="326670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18</a:t>
            </a:fld>
            <a:endParaRPr/>
          </a:p>
        </p:txBody>
      </p:sp>
      <p:pic>
        <p:nvPicPr>
          <p:cNvPr id="231" name="pasted-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04900" y="1876297"/>
            <a:ext cx="10795000" cy="445420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/>
          <p:nvPr/>
        </p:nvSpPr>
        <p:spPr>
          <a:xfrm>
            <a:off x="483755" y="254000"/>
            <a:ext cx="2725853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15. 팝업 공지 띄우기</a:t>
            </a:r>
          </a:p>
        </p:txBody>
      </p:sp>
      <p:sp>
        <p:nvSpPr>
          <p:cNvPr id="234" name="Shape 234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235" name="Shape 235"/>
          <p:cNvSpPr/>
          <p:nvPr/>
        </p:nvSpPr>
        <p:spPr>
          <a:xfrm>
            <a:off x="673658" y="6840738"/>
            <a:ext cx="8596047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홈페이지에 공지사항 팝업창을 띄우고 싶을 때는 환경설정 &gt; 팝업공지 설정에서</a:t>
            </a:r>
          </a:p>
          <a:p>
            <a:pPr algn="l">
              <a:defRPr sz="1800"/>
            </a:pPr>
            <a:r>
              <a:t>팝업 공지사항 보이기를 체크한 후 내용을 작성하고 저장 버튼을 누릅니다.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더 이상 공지창을 띄우고 싶지 않은 경우에는 체크박스에 체크를 해제하고 저장 버튼을 누릅니다.</a:t>
            </a:r>
          </a:p>
        </p:txBody>
      </p:sp>
      <p:sp>
        <p:nvSpPr>
          <p:cNvPr id="236" name="Shape 236"/>
          <p:cNvSpPr>
            <a:spLocks noGrp="1"/>
          </p:cNvSpPr>
          <p:nvPr>
            <p:ph type="sldNum" sz="quarter" idx="4294967295"/>
          </p:nvPr>
        </p:nvSpPr>
        <p:spPr>
          <a:xfrm>
            <a:off x="6335344" y="9251950"/>
            <a:ext cx="321412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19</a:t>
            </a:fld>
            <a:endParaRPr/>
          </a:p>
        </p:txBody>
      </p:sp>
      <p:pic>
        <p:nvPicPr>
          <p:cNvPr id="237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08250" y="1186834"/>
            <a:ext cx="7574099" cy="52163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239"/>
          <p:cNvSpPr/>
          <p:nvPr/>
        </p:nvSpPr>
        <p:spPr>
          <a:xfrm>
            <a:off x="483755" y="254000"/>
            <a:ext cx="3336063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16. 게시판 생성/관리하기</a:t>
            </a:r>
          </a:p>
        </p:txBody>
      </p:sp>
      <p:sp>
        <p:nvSpPr>
          <p:cNvPr id="240" name="Shape 240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241" name="Shape 241"/>
          <p:cNvSpPr/>
          <p:nvPr/>
        </p:nvSpPr>
        <p:spPr>
          <a:xfrm>
            <a:off x="673658" y="6840738"/>
            <a:ext cx="10628987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게시판 목록의 비밀번호는 게시글 삭제 등 관리자만 접근이 가능한 별도 게시판용 비밀번호입니다. (로그인 비밀번호 X)</a:t>
            </a:r>
          </a:p>
          <a:p>
            <a:pPr algn="l">
              <a:defRPr sz="1800"/>
            </a:pPr>
            <a:endParaRPr/>
          </a:p>
          <a:p>
            <a:pPr algn="l">
              <a:defRPr sz="1800"/>
            </a:pPr>
            <a:r>
              <a:t>쓰기권한은 관리자만 쓸 수 있는지 회원도 함께 쓸 수 있는지 정합니다.</a:t>
            </a:r>
          </a:p>
          <a:p>
            <a:pPr algn="l">
              <a:defRPr sz="1800"/>
            </a:pPr>
            <a:r>
              <a:t>예를 들어, 공지사항같은 게시판은 관리자만 쓸 수 있도록 관리자 전용에 체크 후 생성합니다.</a:t>
            </a:r>
          </a:p>
        </p:txBody>
      </p:sp>
      <p:sp>
        <p:nvSpPr>
          <p:cNvPr id="242" name="Shape 242"/>
          <p:cNvSpPr>
            <a:spLocks noGrp="1"/>
          </p:cNvSpPr>
          <p:nvPr>
            <p:ph type="sldNum" sz="quarter" idx="4294967295"/>
          </p:nvPr>
        </p:nvSpPr>
        <p:spPr>
          <a:xfrm>
            <a:off x="6306312" y="9251950"/>
            <a:ext cx="379477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20</a:t>
            </a:fld>
            <a:endParaRPr/>
          </a:p>
        </p:txBody>
      </p:sp>
      <p:pic>
        <p:nvPicPr>
          <p:cNvPr id="243" name="pasted-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0900" y="1764665"/>
            <a:ext cx="10795000" cy="430200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/>
          <p:nvPr/>
        </p:nvSpPr>
        <p:spPr>
          <a:xfrm>
            <a:off x="483755" y="254000"/>
            <a:ext cx="236857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600"/>
            </a:lvl1pPr>
          </a:lstStyle>
          <a:p>
            <a:r>
              <a:t>17. SMS 설정하기</a:t>
            </a:r>
          </a:p>
        </p:txBody>
      </p:sp>
      <p:sp>
        <p:nvSpPr>
          <p:cNvPr id="246" name="Shape 246"/>
          <p:cNvSpPr/>
          <p:nvPr/>
        </p:nvSpPr>
        <p:spPr>
          <a:xfrm>
            <a:off x="447774" y="977900"/>
            <a:ext cx="12109253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247" name="Shape 247"/>
          <p:cNvSpPr/>
          <p:nvPr/>
        </p:nvSpPr>
        <p:spPr>
          <a:xfrm>
            <a:off x="673658" y="6840738"/>
            <a:ext cx="11673689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800"/>
            </a:pPr>
            <a:r>
              <a:t>주문 확인이나 발송 완료 등등 주문 처리에 관해 업체에게 SMS 를 보내고 싶을 때는 별도로 후이즈 SMS 서비스에 가입해야 합니다.</a:t>
            </a:r>
          </a:p>
          <a:p>
            <a:pPr algn="l">
              <a:defRPr sz="1800"/>
            </a:pPr>
            <a:r>
              <a:rPr u="sng">
                <a:hlinkClick r:id="rId2"/>
              </a:rPr>
              <a:t>http://hosting.whois.co.kr/new/sms.php</a:t>
            </a:r>
          </a:p>
          <a:p>
            <a:pPr algn="l">
              <a:defRPr sz="1800"/>
            </a:pPr>
            <a:endParaRPr u="sng">
              <a:hlinkClick r:id="rId2"/>
            </a:endParaRPr>
          </a:p>
          <a:p>
            <a:pPr algn="l">
              <a:defRPr sz="1800"/>
            </a:pPr>
            <a:r>
              <a:t>가입 후 사용함에 체크 후 사용하면 됩니다.</a:t>
            </a:r>
          </a:p>
        </p:txBody>
      </p:sp>
      <p:sp>
        <p:nvSpPr>
          <p:cNvPr id="248" name="Shape 248"/>
          <p:cNvSpPr>
            <a:spLocks noGrp="1"/>
          </p:cNvSpPr>
          <p:nvPr>
            <p:ph type="sldNum" sz="quarter" idx="4294967295"/>
          </p:nvPr>
        </p:nvSpPr>
        <p:spPr>
          <a:xfrm>
            <a:off x="6337172" y="9251950"/>
            <a:ext cx="317755" cy="368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t>21</a:t>
            </a:fld>
            <a:endParaRPr/>
          </a:p>
        </p:txBody>
      </p:sp>
      <p:pic>
        <p:nvPicPr>
          <p:cNvPr id="249" name="pasted-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04900" y="1702924"/>
            <a:ext cx="10795000" cy="37721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slow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Apple SD 산돌고딕 Neo 옅은체"/>
        <a:ea typeface="Apple SD 산돌고딕 Neo 옅은체"/>
        <a:cs typeface="Apple SD 산돌고딕 Neo 옅은체"/>
      </a:majorFont>
      <a:minorFont>
        <a:latin typeface="Apple SD 산돌고딕 Neo 옅은체"/>
        <a:ea typeface="Apple SD 산돌고딕 Neo 옅은체"/>
        <a:cs typeface="Apple SD 산돌고딕 Neo 옅은체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Apple SD 산돌고딕 Neo 옅은체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ple SD 산돌고딕 Neo 옅은체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Apple SD 산돌고딕 Neo 옅은체"/>
        <a:ea typeface="Apple SD 산돌고딕 Neo 옅은체"/>
        <a:cs typeface="Apple SD 산돌고딕 Neo 옅은체"/>
      </a:majorFont>
      <a:minorFont>
        <a:latin typeface="Apple SD 산돌고딕 Neo 옅은체"/>
        <a:ea typeface="Apple SD 산돌고딕 Neo 옅은체"/>
        <a:cs typeface="Apple SD 산돌고딕 Neo 옅은체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Apple SD 산돌고딕 Neo 옅은체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ple SD 산돌고딕 Neo 옅은체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751</Words>
  <Application>Microsoft Office PowerPoint</Application>
  <PresentationFormat>사용자 지정</PresentationFormat>
  <Paragraphs>118</Paragraphs>
  <Slides>21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2" baseType="lpstr">
      <vt:lpstr>White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Seonghyeon Joh</dc:creator>
  <cp:lastModifiedBy>Joh</cp:lastModifiedBy>
  <cp:revision>3</cp:revision>
  <dcterms:modified xsi:type="dcterms:W3CDTF">2016-04-22T13:22:36Z</dcterms:modified>
</cp:coreProperties>
</file>