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77" r:id="rId9"/>
    <p:sldId id="278" r:id="rId10"/>
    <p:sldId id="279" r:id="rId11"/>
    <p:sldId id="280" r:id="rId12"/>
    <p:sldId id="281" r:id="rId13"/>
    <p:sldId id="262" r:id="rId14"/>
    <p:sldId id="263" r:id="rId15"/>
    <p:sldId id="264" r:id="rId16"/>
    <p:sldId id="265" r:id="rId17"/>
    <p:sldId id="266" r:id="rId18"/>
    <p:sldId id="270" r:id="rId19"/>
    <p:sldId id="282" r:id="rId20"/>
    <p:sldId id="271" r:id="rId21"/>
    <p:sldId id="286" r:id="rId22"/>
    <p:sldId id="287" r:id="rId23"/>
    <p:sldId id="289" r:id="rId24"/>
    <p:sldId id="274" r:id="rId25"/>
    <p:sldId id="275" r:id="rId26"/>
    <p:sldId id="276" r:id="rId27"/>
    <p:sldId id="283" r:id="rId28"/>
    <p:sldId id="285" r:id="rId2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ple SD 산돌고딕 Neo 옅은체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Apple SD 산돌고딕 Neo 세미볼드체"/>
          <a:ea typeface="Apple SD 산돌고딕 Neo 세미볼드체"/>
          <a:cs typeface="Apple SD 산돌고딕 Neo 세미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5" autoAdjust="0"/>
    <p:restoredTop sz="94660"/>
  </p:normalViewPr>
  <p:slideViewPr>
    <p:cSldViewPr showGuides="1">
      <p:cViewPr varScale="1">
        <p:scale>
          <a:sx n="78" d="100"/>
          <a:sy n="78" d="100"/>
        </p:scale>
        <p:origin x="-1428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63994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60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및 부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제목 텍스트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수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제목 텍스트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26428" y="9245600"/>
            <a:ext cx="339244" cy="3683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- 중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수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제목 텍스트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- 상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‘여기에 인용을 입력하십시오.’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26428" y="9251950"/>
            <a:ext cx="339244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pple SD 산돌고딕 Neo 옅은체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pple SD 산돌고딕 Neo 옅은체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://hosting.whois.co.kr/new/sms.php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mailto:webmaster@nwlab.co.k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4"/>
          <p:cNvGrpSpPr/>
          <p:nvPr/>
        </p:nvGrpSpPr>
        <p:grpSpPr>
          <a:xfrm>
            <a:off x="1888058" y="2759020"/>
            <a:ext cx="9916306" cy="5683359"/>
            <a:chOff x="0" y="0"/>
            <a:chExt cx="9916304" cy="5683358"/>
          </a:xfrm>
        </p:grpSpPr>
        <p:sp>
          <p:nvSpPr>
            <p:cNvPr id="119" name="Shape 119"/>
            <p:cNvSpPr/>
            <p:nvPr/>
          </p:nvSpPr>
          <p:spPr>
            <a:xfrm>
              <a:off x="1012123" y="0"/>
              <a:ext cx="7894597" cy="5212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21600"/>
                  </a:lnTo>
                  <a:lnTo>
                    <a:pt x="0" y="1115"/>
                  </a:lnTo>
                  <a:cubicBezTo>
                    <a:pt x="0" y="499"/>
                    <a:pt x="331" y="0"/>
                    <a:pt x="739" y="0"/>
                  </a:cubicBezTo>
                  <a:lnTo>
                    <a:pt x="10800" y="0"/>
                  </a:lnTo>
                  <a:lnTo>
                    <a:pt x="20862" y="0"/>
                  </a:lnTo>
                  <a:cubicBezTo>
                    <a:pt x="21269" y="0"/>
                    <a:pt x="21600" y="499"/>
                    <a:pt x="21600" y="1115"/>
                  </a:cubicBezTo>
                  <a:lnTo>
                    <a:pt x="21600" y="21600"/>
                  </a:lnTo>
                  <a:lnTo>
                    <a:pt x="10800" y="21600"/>
                  </a:lnTo>
                  <a:cubicBezTo>
                    <a:pt x="10800" y="21600"/>
                    <a:pt x="10800" y="21600"/>
                    <a:pt x="10800" y="21600"/>
                  </a:cubicBezTo>
                  <a:close/>
                </a:path>
              </a:pathLst>
            </a:custGeom>
            <a:solidFill>
              <a:srgbClr val="5A6170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>
              <a:off x="0" y="5212547"/>
              <a:ext cx="9916306" cy="4708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00" y="21600"/>
                  </a:moveTo>
                  <a:lnTo>
                    <a:pt x="10800" y="21600"/>
                  </a:lnTo>
                  <a:lnTo>
                    <a:pt x="1100" y="21600"/>
                  </a:lnTo>
                  <a:cubicBezTo>
                    <a:pt x="515" y="21600"/>
                    <a:pt x="38" y="12060"/>
                    <a:pt x="0" y="0"/>
                  </a:cubicBezTo>
                  <a:lnTo>
                    <a:pt x="10800" y="0"/>
                  </a:lnTo>
                  <a:lnTo>
                    <a:pt x="21600" y="0"/>
                  </a:lnTo>
                  <a:cubicBezTo>
                    <a:pt x="21562" y="12060"/>
                    <a:pt x="21084" y="21600"/>
                    <a:pt x="20500" y="21600"/>
                  </a:cubicBezTo>
                  <a:cubicBezTo>
                    <a:pt x="20500" y="21600"/>
                    <a:pt x="20500" y="21600"/>
                    <a:pt x="20500" y="21600"/>
                  </a:cubicBezTo>
                  <a:close/>
                </a:path>
              </a:pathLst>
            </a:custGeom>
            <a:solidFill>
              <a:srgbClr val="B5BBC9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>
              <a:off x="4250918" y="5212547"/>
              <a:ext cx="1413317" cy="134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362" y="12319"/>
                    <a:pt x="20322" y="21600"/>
                    <a:pt x="19075" y="21600"/>
                  </a:cubicBezTo>
                  <a:lnTo>
                    <a:pt x="10825" y="21600"/>
                  </a:lnTo>
                  <a:lnTo>
                    <a:pt x="10825" y="21600"/>
                  </a:lnTo>
                  <a:lnTo>
                    <a:pt x="10777" y="21600"/>
                  </a:lnTo>
                  <a:lnTo>
                    <a:pt x="10777" y="21600"/>
                  </a:lnTo>
                  <a:lnTo>
                    <a:pt x="2526" y="21600"/>
                  </a:lnTo>
                  <a:cubicBezTo>
                    <a:pt x="1278" y="21600"/>
                    <a:pt x="239" y="12319"/>
                    <a:pt x="0" y="0"/>
                  </a:cubicBezTo>
                  <a:lnTo>
                    <a:pt x="10777" y="0"/>
                  </a:lnTo>
                  <a:lnTo>
                    <a:pt x="10777" y="0"/>
                  </a:lnTo>
                  <a:lnTo>
                    <a:pt x="10825" y="0"/>
                  </a:lnTo>
                  <a:lnTo>
                    <a:pt x="10825" y="0"/>
                  </a:lnTo>
                  <a:lnTo>
                    <a:pt x="21600" y="0"/>
                  </a:lnTo>
                  <a:cubicBezTo>
                    <a:pt x="21600" y="0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EBEBEB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>
              <a:off x="1282027" y="269034"/>
              <a:ext cx="7354750" cy="46744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21600"/>
                  </a:lnTo>
                  <a:lnTo>
                    <a:pt x="0" y="21290"/>
                  </a:lnTo>
                  <a:lnTo>
                    <a:pt x="0" y="311"/>
                  </a:lnTo>
                  <a:lnTo>
                    <a:pt x="0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311"/>
                  </a:lnTo>
                  <a:lnTo>
                    <a:pt x="21600" y="21290"/>
                  </a:lnTo>
                  <a:lnTo>
                    <a:pt x="21600" y="21600"/>
                  </a:lnTo>
                  <a:lnTo>
                    <a:pt x="10800" y="21600"/>
                  </a:lnTo>
                  <a:cubicBezTo>
                    <a:pt x="10800" y="21600"/>
                    <a:pt x="10800" y="21600"/>
                    <a:pt x="10800" y="21600"/>
                  </a:cubicBezTo>
                  <a:close/>
                </a:path>
              </a:pathLst>
            </a:custGeom>
            <a:solidFill>
              <a:srgbClr val="ABD9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460500">
                <a:defRPr sz="4800" cap="all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rPr lang="en-US" dirty="0" smtClean="0"/>
                <a:t>SHINSOO</a:t>
              </a:r>
              <a:r>
                <a:rPr dirty="0" smtClean="0"/>
                <a:t> </a:t>
              </a:r>
              <a:r>
                <a:rPr dirty="0"/>
                <a:t>solution</a:t>
              </a:r>
            </a:p>
            <a:p>
              <a:pPr defTabSz="1460500">
                <a:defRPr sz="4800" cap="all">
                  <a:solidFill>
                    <a:srgbClr val="FFFFFF"/>
                  </a:solidFill>
                  <a:latin typeface="Helvetica Neue Bold Condensed"/>
                  <a:ea typeface="Helvetica Neue Bold Condensed"/>
                  <a:cs typeface="Helvetica Neue Bold Condensed"/>
                  <a:sym typeface="Helvetica Neue Bold Condensed"/>
                </a:defRPr>
              </a:pPr>
              <a:r>
                <a:rPr dirty="0"/>
                <a:t>admin manual</a:t>
              </a:r>
            </a:p>
          </p:txBody>
        </p:sp>
        <p:sp>
          <p:nvSpPr>
            <p:cNvPr id="123" name="Shape 123"/>
            <p:cNvSpPr/>
            <p:nvPr/>
          </p:nvSpPr>
          <p:spPr>
            <a:xfrm>
              <a:off x="4891932" y="67259"/>
              <a:ext cx="115151" cy="114845"/>
            </a:xfrm>
            <a:prstGeom prst="ellipse">
              <a:avLst/>
            </a:prstGeom>
            <a:solidFill>
              <a:srgbClr val="B5BBC9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pic>
        <p:nvPicPr>
          <p:cNvPr id="1026" name="Picture 2" descr="C:\wamp\www\shinsoo\images\shinsoo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436" y="1041624"/>
            <a:ext cx="4002087" cy="108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398944" y="9269288"/>
            <a:ext cx="1415451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dirty="0" smtClean="0"/>
              <a:t>Edited 2016.04.29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Apple SD 산돌고딕 Neo 옅은체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2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3" name="Shape 136"/>
          <p:cNvSpPr/>
          <p:nvPr/>
        </p:nvSpPr>
        <p:spPr>
          <a:xfrm>
            <a:off x="468452" y="301100"/>
            <a:ext cx="790281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목 차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4521" y="2553301"/>
            <a:ext cx="3005631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1-1. </a:t>
            </a:r>
            <a:r>
              <a:rPr kumimoji="0" lang="ko-KR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신규회원 처리하기 </a:t>
            </a:r>
            <a:r>
              <a:rPr kumimoji="0" lang="en-US" altLang="ko-KR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(</a:t>
            </a:r>
            <a:r>
              <a:rPr kumimoji="0" lang="ko-KR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기업회원</a:t>
            </a:r>
            <a:r>
              <a:rPr kumimoji="0" lang="en-US" altLang="ko-KR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)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3179" y="1784407"/>
            <a:ext cx="2090316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신규회원 처리하기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3179" y="3291417"/>
            <a:ext cx="2141612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2.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신규 주문 처리하기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3179" y="4060311"/>
            <a:ext cx="2404504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3.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택배 운송장 일괄 출력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3179" y="4829205"/>
            <a:ext cx="2404504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4.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택배 운송장 번호 입력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3179" y="5598099"/>
            <a:ext cx="2827697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5.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택배 운송장 번호 일괄입력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3179" y="6366993"/>
            <a:ext cx="2141612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6.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신규 상품 등록하기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3179" y="7135887"/>
            <a:ext cx="187871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7.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업체별 정산하기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3179" y="7904781"/>
            <a:ext cx="187871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8. </a:t>
            </a:r>
            <a:r>
              <a:rPr lang="ko-KR" altLang="en-US" sz="1800" dirty="0" smtClean="0">
                <a:latin typeface="Noto Sans CJK KR Regular" pitchFamily="34" charset="-127"/>
                <a:ea typeface="Noto Sans CJK KR Regular" pitchFamily="34" charset="-127"/>
              </a:rPr>
              <a:t>기</a:t>
            </a:r>
            <a:r>
              <a:rPr lang="ko-KR" altLang="en-US" sz="1800" dirty="0">
                <a:latin typeface="Noto Sans CJK KR Regular" pitchFamily="34" charset="-127"/>
                <a:ea typeface="Noto Sans CJK KR Regular" pitchFamily="34" charset="-127"/>
              </a:rPr>
              <a:t>간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별 정산하기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3179" y="8673672"/>
            <a:ext cx="2564805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9. </a:t>
            </a:r>
            <a:r>
              <a:rPr lang="ko-KR" altLang="en-US" sz="1800" dirty="0" smtClean="0">
                <a:latin typeface="Noto Sans CJK KR Regular" pitchFamily="34" charset="-127"/>
                <a:ea typeface="Noto Sans CJK KR Regular" pitchFamily="34" charset="-127"/>
              </a:rPr>
              <a:t>회원 비밀번호 변경하기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5637" y="1781521"/>
            <a:ext cx="2218556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10.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판매현황 확인하기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55637" y="2491927"/>
            <a:ext cx="2519921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11.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브랜드 등록</a:t>
            </a: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/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수정하기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55637" y="3202333"/>
            <a:ext cx="2006960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12.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브랜드 관리하기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55637" y="3912739"/>
            <a:ext cx="3327834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13.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회원업체에 전체메일 발송하기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5637" y="5333551"/>
            <a:ext cx="2587248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15.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정산관리하기 </a:t>
            </a: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(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업체별</a:t>
            </a: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)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5637" y="6754363"/>
            <a:ext cx="2058256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16.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팝업 공지 띄우기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5637" y="8175175"/>
            <a:ext cx="183543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18. </a:t>
            </a: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SMS</a:t>
            </a:r>
            <a:r>
              <a:rPr kumimoji="0" lang="en-US" altLang="ko-KR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 </a:t>
            </a:r>
            <a:r>
              <a:rPr kumimoji="0" lang="ko-KR" altLang="en-US" sz="1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설정하기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55637" y="8885582"/>
            <a:ext cx="2481450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19. </a:t>
            </a:r>
            <a:r>
              <a:rPr kumimoji="0" lang="ko-KR" altLang="en-US" sz="18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어드민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 정보 설정하기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6358384" y="1582816"/>
            <a:ext cx="0" cy="785003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TextBox 22"/>
          <p:cNvSpPr txBox="1"/>
          <p:nvPr/>
        </p:nvSpPr>
        <p:spPr>
          <a:xfrm>
            <a:off x="7455637" y="4623145"/>
            <a:ext cx="2218556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14. 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배송정보 설정하기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3862" y="6043957"/>
            <a:ext cx="2660986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15-1. </a:t>
            </a:r>
            <a:r>
              <a:rPr kumimoji="0" lang="ko-KR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정산관리하기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 </a:t>
            </a: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(</a:t>
            </a:r>
            <a:r>
              <a:rPr kumimoji="0" lang="ko-KR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기간별</a:t>
            </a: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)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55637" y="7464769"/>
            <a:ext cx="2519922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Noto Sans CJK KR Regular" pitchFamily="34" charset="-127"/>
                <a:ea typeface="Noto Sans CJK KR Regular" pitchFamily="34" charset="-127"/>
                <a:sym typeface="Apple SD 산돌고딕 Neo 옅은체"/>
              </a:rPr>
              <a:t>17. </a:t>
            </a:r>
            <a:r>
              <a:rPr lang="ko-KR" altLang="en-US" sz="1800" dirty="0" smtClean="0">
                <a:latin typeface="Noto Sans CJK KR Regular" pitchFamily="34" charset="-127"/>
                <a:ea typeface="Noto Sans CJK KR Regular" pitchFamily="34" charset="-127"/>
              </a:rPr>
              <a:t>게시판 생성</a:t>
            </a:r>
            <a:r>
              <a:rPr lang="en-US" altLang="ko-KR" sz="1800" dirty="0" smtClean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lang="ko-KR" altLang="en-US" sz="1800" dirty="0" smtClean="0">
                <a:latin typeface="Noto Sans CJK KR Regular" pitchFamily="34" charset="-127"/>
                <a:ea typeface="Noto Sans CJK KR Regular" pitchFamily="34" charset="-127"/>
              </a:rPr>
              <a:t>관리하기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Noto Sans CJK KR Regular" pitchFamily="34" charset="-127"/>
              <a:ea typeface="Noto Sans CJK KR Regular" pitchFamily="34" charset="-127"/>
              <a:sym typeface="Apple SD 산돌고딕 Neo 옅은체"/>
            </a:endParaRPr>
          </a:p>
        </p:txBody>
      </p:sp>
    </p:spTree>
    <p:extLst>
      <p:ext uri="{BB962C8B-B14F-4D97-AF65-F5344CB8AC3E}">
        <p14:creationId xmlns:p14="http://schemas.microsoft.com/office/powerpoint/2010/main" val="9775118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30" name="Shape 130"/>
          <p:cNvSpPr/>
          <p:nvPr/>
        </p:nvSpPr>
        <p:spPr>
          <a:xfrm>
            <a:off x="492364" y="6719778"/>
            <a:ext cx="11122604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매 1분마다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자동으로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리프레시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리스트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이동합니다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</p:txBody>
      </p:sp>
      <p:sp>
        <p:nvSpPr>
          <p:cNvPr id="131" name="Shape 131"/>
          <p:cNvSpPr>
            <a:spLocks noGrp="1"/>
          </p:cNvSpPr>
          <p:nvPr>
            <p:ph type="sldNum" sz="quarter" idx="4294967295"/>
          </p:nvPr>
        </p:nvSpPr>
        <p:spPr>
          <a:xfrm>
            <a:off x="6377978" y="9251950"/>
            <a:ext cx="236144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7" name="Shape 136"/>
          <p:cNvSpPr/>
          <p:nvPr/>
        </p:nvSpPr>
        <p:spPr>
          <a:xfrm>
            <a:off x="468452" y="301100"/>
            <a:ext cx="3055324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1.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629222"/>
            <a:ext cx="12147550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34" name="Shape 134"/>
          <p:cNvSpPr/>
          <p:nvPr/>
        </p:nvSpPr>
        <p:spPr>
          <a:xfrm>
            <a:off x="5638304" y="5596880"/>
            <a:ext cx="7056785" cy="287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기업회원의 경우 가입 시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비승인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상태로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PAUSE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표시가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  <a:br>
              <a:rPr dirty="0">
                <a:latin typeface="Noto Sans CJK KR Regular" pitchFamily="34" charset="-127"/>
                <a:ea typeface="Noto Sans CJK KR Regular" pitchFamily="34" charset="-127"/>
              </a:rPr>
            </a:b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승인되면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OK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개인회원은 가입과 동시에 승인상태가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marL="317500" indent="-317500" algn="l">
              <a:buSzPct val="100000"/>
              <a:buAutoNum type="arabicPeriod"/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좌측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아이디를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창이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뜹니다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marL="317500" indent="-317500" algn="l">
              <a:buSzPct val="100000"/>
              <a:buAutoNum type="arabicPeriod"/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하단에서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승인에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“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수정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”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승인처리됩니다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업체별로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제품의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공급가를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다르게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하려면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기본할인율에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할인율을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br>
              <a:rPr dirty="0">
                <a:latin typeface="Noto Sans CJK KR Regular" pitchFamily="34" charset="-127"/>
                <a:ea typeface="Noto Sans CJK KR Regular" pitchFamily="34" charset="-127"/>
              </a:rPr>
            </a:b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pic>
        <p:nvPicPr>
          <p:cNvPr id="135" name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1760" y="5734860"/>
            <a:ext cx="4445000" cy="2021173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hape 136"/>
          <p:cNvSpPr/>
          <p:nvPr/>
        </p:nvSpPr>
        <p:spPr>
          <a:xfrm>
            <a:off x="468452" y="301100"/>
            <a:ext cx="4879541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-1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기업회원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37" name="Shape 137"/>
          <p:cNvSpPr>
            <a:spLocks noGrp="1"/>
          </p:cNvSpPr>
          <p:nvPr>
            <p:ph type="sldNum" sz="quarter" idx="4294967295"/>
          </p:nvPr>
        </p:nvSpPr>
        <p:spPr>
          <a:xfrm>
            <a:off x="6377635" y="9251950"/>
            <a:ext cx="236830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138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4900" y="1797050"/>
            <a:ext cx="10795000" cy="317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/>
        </p:nvSpPr>
        <p:spPr>
          <a:xfrm>
            <a:off x="477494" y="301100"/>
            <a:ext cx="3055324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2.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42" name="Shape 142"/>
          <p:cNvSpPr/>
          <p:nvPr/>
        </p:nvSpPr>
        <p:spPr>
          <a:xfrm>
            <a:off x="559358" y="6749008"/>
            <a:ext cx="6046527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매 1분마다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자동으로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리프레시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신규주문이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리스트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이동합니다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</p:txBody>
      </p:sp>
      <p:sp>
        <p:nvSpPr>
          <p:cNvPr id="144" name="Shape 144"/>
          <p:cNvSpPr>
            <a:spLocks noGrp="1"/>
          </p:cNvSpPr>
          <p:nvPr>
            <p:ph type="sldNum" sz="quarter" idx="4294967295"/>
          </p:nvPr>
        </p:nvSpPr>
        <p:spPr>
          <a:xfrm>
            <a:off x="6375463" y="9251950"/>
            <a:ext cx="241174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724" y="1518827"/>
            <a:ext cx="915735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572058" y="5428408"/>
            <a:ext cx="6149119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Ⓐ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주문일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시를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상세내역을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볼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Ⓑ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업체명을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업체만의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목록을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볼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Ⓒ 미처리 주문의 경우에는 배경색이 붉은 색으로 표시됩니다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477494" y="301100"/>
            <a:ext cx="3355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-1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49" name="Shape 149"/>
          <p:cNvSpPr>
            <a:spLocks noGrp="1"/>
          </p:cNvSpPr>
          <p:nvPr>
            <p:ph type="sldNum" sz="quarter" idx="4294967295"/>
          </p:nvPr>
        </p:nvSpPr>
        <p:spPr>
          <a:xfrm>
            <a:off x="6382207" y="9251950"/>
            <a:ext cx="227686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708448"/>
            <a:ext cx="106807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750825" y="5380856"/>
            <a:ext cx="11503149" cy="259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상세내역에서는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명세서를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출력하거나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엑셀로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다운받아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수정할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②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수량을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수량변경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란에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③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회성으로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공급가만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때에도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공급가변경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란에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공급가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④ 주문상품의 이미지를 클릭할 경우 쇼핑몰 상세페이지로 이동합니다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⑤ 상품명을 클릭할 경우 해당 상품의 품절이나 옵션의 품절 등을 설정할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477494" y="301100"/>
            <a:ext cx="3355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-2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6" name="Shape 156"/>
          <p:cNvSpPr>
            <a:spLocks noGrp="1"/>
          </p:cNvSpPr>
          <p:nvPr>
            <p:ph type="sldNum" sz="quarter" idx="4294967295"/>
          </p:nvPr>
        </p:nvSpPr>
        <p:spPr>
          <a:xfrm>
            <a:off x="6376149" y="9251950"/>
            <a:ext cx="239802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1701800"/>
            <a:ext cx="101727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750825" y="5934854"/>
            <a:ext cx="8745984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주문상품 목록 하단에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“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배송 시 요청사항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”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의 경우에는 택배기사에게 남기는 메시지입니다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b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</a:b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    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해당 메시지는 운송장 출력 시 출력됩니다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.)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②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“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담당자에게 요청사항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”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은 신수상사 관리자에게 남기는 메시지입니다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477494" y="301100"/>
            <a:ext cx="3355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-3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6" name="Shape 156"/>
          <p:cNvSpPr>
            <a:spLocks noGrp="1"/>
          </p:cNvSpPr>
          <p:nvPr>
            <p:ph type="sldNum" sz="quarter" idx="4294967295"/>
          </p:nvPr>
        </p:nvSpPr>
        <p:spPr>
          <a:xfrm>
            <a:off x="6376149" y="9251950"/>
            <a:ext cx="239802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09" y="1420416"/>
            <a:ext cx="8880581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51691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750825" y="6532985"/>
            <a:ext cx="113620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관리자 메모는 구매자에게 남기는 메시지입니다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관리자의 메모가 있을 경우 구매자의 주문목록에 아이콘이 표시되며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해당 구매 상세내역 하단에서 확인이 가능합니다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주문처리는 하단 버튼을 이용해 처리합니다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이미 발송완료 처리했더라도 다시  주문확인이나 포장완료 버튼을 누르면 처리상태가 되돌아갑니다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477494" y="301100"/>
            <a:ext cx="3355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-4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6" name="Shape 156"/>
          <p:cNvSpPr>
            <a:spLocks noGrp="1"/>
          </p:cNvSpPr>
          <p:nvPr>
            <p:ph type="sldNum" sz="quarter" idx="4294967295"/>
          </p:nvPr>
        </p:nvSpPr>
        <p:spPr>
          <a:xfrm>
            <a:off x="6376149" y="9251950"/>
            <a:ext cx="239802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864" y="1204392"/>
            <a:ext cx="938530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42379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/>
        </p:nvSpPr>
        <p:spPr>
          <a:xfrm>
            <a:off x="476606" y="296328"/>
            <a:ext cx="336149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3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일괄출력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91" name="Shape 191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92" name="Shape 192"/>
          <p:cNvSpPr/>
          <p:nvPr/>
        </p:nvSpPr>
        <p:spPr>
          <a:xfrm>
            <a:off x="635558" y="7480122"/>
            <a:ext cx="7713650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시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모든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대한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한꺼번에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출력할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페이지입니다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택배사에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맞춰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엑셀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양식은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별도로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조정해야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.)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엑셀파일을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출력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계약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택배사의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출력프로그램에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업로드하면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다운받은 엑셀파일을 열 때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경고창이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나오면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“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예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”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를 누르면 편집이 가능합니다</a:t>
            </a: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93" name="Shape 193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848" y="1348407"/>
            <a:ext cx="9937104" cy="593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282966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/>
        </p:nvSpPr>
        <p:spPr>
          <a:xfrm>
            <a:off x="525736" y="302081"/>
            <a:ext cx="343683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4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98" name="Shape 198"/>
          <p:cNvSpPr/>
          <p:nvPr/>
        </p:nvSpPr>
        <p:spPr>
          <a:xfrm>
            <a:off x="635558" y="6774164"/>
            <a:ext cx="6815968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1800"/>
            </a:lvl1pPr>
          </a:lstStyle>
          <a:p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완료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주문건들의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번호를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하나씩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199" name="Shape 199"/>
          <p:cNvSpPr>
            <a:spLocks noGrp="1"/>
          </p:cNvSpPr>
          <p:nvPr>
            <p:ph type="sldNum" sz="quarter" idx="4294967295"/>
          </p:nvPr>
        </p:nvSpPr>
        <p:spPr>
          <a:xfrm>
            <a:off x="6336830" y="9251950"/>
            <a:ext cx="318440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75" y="1780456"/>
            <a:ext cx="11545849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969694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/>
        </p:nvSpPr>
        <p:spPr>
          <a:xfrm>
            <a:off x="525736" y="274543"/>
            <a:ext cx="4049185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5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운송장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일괄입력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04" name="Shape 204"/>
          <p:cNvSpPr/>
          <p:nvPr/>
        </p:nvSpPr>
        <p:spPr>
          <a:xfrm>
            <a:off x="851012" y="7397080"/>
            <a:ext cx="11354070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건이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다량인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경우에는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계약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택배사의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발송내역을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csv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파일형식으로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다운받아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일괄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업로드할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다운받은 </a:t>
            </a: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csv </a:t>
            </a:r>
            <a:r>
              <a:rPr lang="ko-KR" alt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파일에는 반드시 쇼핑몰의 주문번호가 기재되어 있어야 해당 주문번호에 맞춰서 발송처리가 가능합니다</a:t>
            </a: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solidFill>
                <a:schemeClr val="accent1"/>
              </a:solidFill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05" name="Shape 205"/>
          <p:cNvSpPr>
            <a:spLocks noGrp="1"/>
          </p:cNvSpPr>
          <p:nvPr>
            <p:ph type="sldNum" sz="quarter" idx="4294967295"/>
          </p:nvPr>
        </p:nvSpPr>
        <p:spPr>
          <a:xfrm>
            <a:off x="6334658" y="9251950"/>
            <a:ext cx="322784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698" y="1708448"/>
            <a:ext cx="8227403" cy="5240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2555947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/>
        </p:nvSpPr>
        <p:spPr>
          <a:xfrm>
            <a:off x="502399" y="294619"/>
            <a:ext cx="3055324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6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신규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59" name="Shape 15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60" name="Shape 160"/>
          <p:cNvSpPr/>
          <p:nvPr/>
        </p:nvSpPr>
        <p:spPr>
          <a:xfrm>
            <a:off x="864158" y="7304587"/>
            <a:ext cx="11900694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새로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좌측의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메뉴를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필요한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항목들의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내용을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하단의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“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”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buSzPct val="75000"/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상단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상품등록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칸에서는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상품을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쇼핑몰 목록에서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숨시거나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품절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처리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등을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할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buSzPct val="75000"/>
              <a:defRPr sz="1800"/>
            </a:pP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※</a:t>
            </a:r>
            <a:r>
              <a:rPr 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상품을 삭제할 경우 해당 상품의 주문내역이 있을 경우 주문 상세내역에서 상품이 제대로 표시되지 않는 경우가 발생하므로</a:t>
            </a: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 </a:t>
            </a:r>
            <a:br>
              <a:rPr 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</a:br>
            <a:r>
              <a:rPr 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lang="ko-KR" altLang="en-US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판매중지 처리해서 목록에서만 감추는 것이 좋습니다</a:t>
            </a:r>
            <a:r>
              <a:rPr lang="en-US" altLang="ko-KR" dirty="0" smtClean="0">
                <a:solidFill>
                  <a:schemeClr val="accent1"/>
                </a:solidFill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solidFill>
                <a:schemeClr val="accent1"/>
              </a:solidFill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63" name="Shape 163"/>
          <p:cNvSpPr>
            <a:spLocks noGrp="1"/>
          </p:cNvSpPr>
          <p:nvPr>
            <p:ph type="sldNum" sz="quarter" idx="4294967295"/>
          </p:nvPr>
        </p:nvSpPr>
        <p:spPr>
          <a:xfrm>
            <a:off x="6383464" y="9251950"/>
            <a:ext cx="225172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430" y="1420416"/>
            <a:ext cx="6723939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/>
        </p:nvSpPr>
        <p:spPr>
          <a:xfrm>
            <a:off x="494995" y="288400"/>
            <a:ext cx="2673809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7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67" name="Shape 167"/>
          <p:cNvSpPr/>
          <p:nvPr/>
        </p:nvSpPr>
        <p:spPr>
          <a:xfrm>
            <a:off x="635558" y="6875968"/>
            <a:ext cx="9669314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각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좌측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메뉴를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우측의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목록에서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아이디를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리스트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넘어갑니다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168" name="Shape 168"/>
          <p:cNvSpPr>
            <a:spLocks noGrp="1"/>
          </p:cNvSpPr>
          <p:nvPr>
            <p:ph type="sldNum" sz="quarter" idx="4294967295"/>
          </p:nvPr>
        </p:nvSpPr>
        <p:spPr>
          <a:xfrm>
            <a:off x="6373520" y="9251950"/>
            <a:ext cx="245060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598" y="1996480"/>
            <a:ext cx="10127604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/>
        </p:nvSpPr>
        <p:spPr>
          <a:xfrm>
            <a:off x="530136" y="288400"/>
            <a:ext cx="2673809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8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72" name="Shape 172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635558" y="6183471"/>
            <a:ext cx="11368497" cy="231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기간별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좌측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메뉴를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우측화면에서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검색할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설정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검색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누릅니다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내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정산할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목록이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정산금액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확인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하단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“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홈택스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업로드용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엑셀로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저장하기”를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누르면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홈택스에서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한번에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세금계산서를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발행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할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수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/>
            </a:r>
            <a:b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</a:b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있는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양식으로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저장이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양식을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홈택스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사이트에서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업로드하면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일괄적으로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세금계산서가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발행됩니다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174" name="Shape 174"/>
          <p:cNvSpPr>
            <a:spLocks noGrp="1"/>
          </p:cNvSpPr>
          <p:nvPr>
            <p:ph type="sldNum" sz="quarter" idx="4294967295"/>
          </p:nvPr>
        </p:nvSpPr>
        <p:spPr>
          <a:xfrm>
            <a:off x="6376149" y="9251950"/>
            <a:ext cx="239802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158" y="1492424"/>
            <a:ext cx="10726484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/>
        </p:nvSpPr>
        <p:spPr>
          <a:xfrm>
            <a:off x="487806" y="263000"/>
            <a:ext cx="3667671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9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78" name="Shape 178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79" name="Shape 179"/>
          <p:cNvSpPr/>
          <p:nvPr/>
        </p:nvSpPr>
        <p:spPr>
          <a:xfrm>
            <a:off x="305190" y="6976066"/>
            <a:ext cx="12394419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분실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등으로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시에는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리스트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우측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아이디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클릭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새로운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창이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뜨면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“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시에만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체크”에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한 후 1234 등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쉬운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숫자로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입력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하단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수정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눌러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변경사항을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저장합니다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새 비밀번호를 알려주고 로그인 후 정보변경에서 비밀번호를 수정하도록 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회원의 비밀번호는 각 회원이 비밀번호 찾기를 통해서 초기화를 할 수도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80" name="Shape 18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pic>
        <p:nvPicPr>
          <p:cNvPr id="181" name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8350" y="1473200"/>
            <a:ext cx="7251700" cy="462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808" y="2500536"/>
            <a:ext cx="2694462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/>
        </p:nvSpPr>
        <p:spPr>
          <a:xfrm>
            <a:off x="516140" y="237600"/>
            <a:ext cx="316432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10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판매현황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확인하기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85" name="Shape 185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86" name="Shape 186"/>
          <p:cNvSpPr/>
          <p:nvPr/>
        </p:nvSpPr>
        <p:spPr>
          <a:xfrm>
            <a:off x="635558" y="7357607"/>
            <a:ext cx="10124567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판매현황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페이지에서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날짜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검색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해당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기간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안의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판매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수량과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금액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확인할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수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있습니다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별도로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날짜를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지정하지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않을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당일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발송완료된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대한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판매현황이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표시됩니다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.)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해당 기간 안에 특정 업체의 판매현황을 보고 싶을 경우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업체명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–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아이디를 클릭해서 선택합니다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187" name="Shape 187"/>
          <p:cNvSpPr>
            <a:spLocks noGrp="1"/>
          </p:cNvSpPr>
          <p:nvPr>
            <p:ph type="sldNum" sz="quarter" idx="4294967295"/>
          </p:nvPr>
        </p:nvSpPr>
        <p:spPr>
          <a:xfrm>
            <a:off x="6357289" y="9251950"/>
            <a:ext cx="277522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800" y="1348408"/>
            <a:ext cx="1069719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483755" y="250300"/>
            <a:ext cx="360194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11.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브랜드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등록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수정하기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0" name="Shape 210"/>
          <p:cNvSpPr/>
          <p:nvPr/>
        </p:nvSpPr>
        <p:spPr>
          <a:xfrm>
            <a:off x="885776" y="5935687"/>
            <a:ext cx="6309420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브랜드 등록을 위해 브랜드 등록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수정을 클릭합니다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브랜드명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입력 후 등록하며 최상위 분류로 브랜드가 등록됩니다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11" name="Shape 211"/>
          <p:cNvSpPr>
            <a:spLocks noGrp="1"/>
          </p:cNvSpPr>
          <p:nvPr>
            <p:ph type="sldNum" sz="quarter" idx="4294967295"/>
          </p:nvPr>
        </p:nvSpPr>
        <p:spPr>
          <a:xfrm>
            <a:off x="6341402" y="9251950"/>
            <a:ext cx="309296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832" y="1420416"/>
            <a:ext cx="10410640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832" y="7056040"/>
            <a:ext cx="3003550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483755" y="250300"/>
            <a:ext cx="2858155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2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브랜드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관리하기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0" name="Shape 210"/>
          <p:cNvSpPr/>
          <p:nvPr/>
        </p:nvSpPr>
        <p:spPr>
          <a:xfrm>
            <a:off x="885776" y="5596880"/>
            <a:ext cx="8681864" cy="2595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특정 브랜드를 쇼핑몰 목록에서 감추고자 할 경우에는 숨기기 버튼을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ON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으로 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브랜드명의 수정 등은 관리의 편집 버튼을 누릅니다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삭제 버튼을 누르면 브랜드가 삭제되어 브랜드 목록에서 표시되지 않습니다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주문내역과 연관이 있을 수 있으므로 실제 삭제가 되지는 않고 목록 상에서만 사라집니다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④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브랜드명을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클릭하면 하위 카테고리를 추가할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11" name="Shape 211"/>
          <p:cNvSpPr>
            <a:spLocks noGrp="1"/>
          </p:cNvSpPr>
          <p:nvPr>
            <p:ph type="sldNum" sz="quarter" idx="4294967295"/>
          </p:nvPr>
        </p:nvSpPr>
        <p:spPr>
          <a:xfrm>
            <a:off x="6341402" y="9251950"/>
            <a:ext cx="309296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49" y="1420416"/>
            <a:ext cx="5829023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6563036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/>
          <p:nvPr/>
        </p:nvSpPr>
        <p:spPr>
          <a:xfrm>
            <a:off x="483755" y="250300"/>
            <a:ext cx="5030223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3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회원업체에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전체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16" name="Shape 216"/>
          <p:cNvSpPr/>
          <p:nvPr/>
        </p:nvSpPr>
        <p:spPr>
          <a:xfrm>
            <a:off x="660958" y="5668888"/>
            <a:ext cx="9951442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가입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회원업체에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전체메일을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회원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전체메일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클릭합니다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우측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화면에서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보내고자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하는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메일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보내기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누릅니다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업체목록이 길 경우에는 한 화면으로 보기를 클릭하면 전체 목록을 볼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④ 전부 선택을 누르면 목록 상의 체크박스에 모두 체크가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대량의 메일을 한꺼번에 보낼 경우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호스팅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업체로부터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스팸메일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발송업체로 오인을 받을 수도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메일 받기에 체크한 업체의 목록만 표시가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   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4294967295"/>
          </p:nvPr>
        </p:nvSpPr>
        <p:spPr>
          <a:xfrm>
            <a:off x="6335344" y="9251950"/>
            <a:ext cx="321412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55" y="1420416"/>
            <a:ext cx="1205865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316432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4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배송정보 설정하기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473613" y="7096644"/>
            <a:ext cx="775212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환경설정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&gt;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배송정보 설정에서 각종 배송 및 환불 정책 등을 수정할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예제 문구를 참고하셔서 작성하시거나 내부 정책을 반영해 작성하시면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980" y="1348408"/>
            <a:ext cx="7560840" cy="5119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61873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3770263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5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정산 관리하기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업체별</a:t>
            </a: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616173" y="8194685"/>
            <a:ext cx="6681316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업체별 정산관리에서 각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업체별 정산을 확인할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확인을 원하는 아이디를 클릭하면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배송완료된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주문건들이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나옵니다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③ 날짜로 원하는 기간을 조회하고 금액 등을 확인합니다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15" y="1492424"/>
            <a:ext cx="7191396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936" y="4101785"/>
            <a:ext cx="103822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아래쪽 화살표 1"/>
          <p:cNvSpPr/>
          <p:nvPr/>
        </p:nvSpPr>
        <p:spPr>
          <a:xfrm rot="19750324">
            <a:off x="4393662" y="3633733"/>
            <a:ext cx="504056" cy="936104"/>
          </a:xfrm>
          <a:prstGeom prst="downArrow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Apple SD 산돌고딕 Neo 옅은체"/>
            </a:endParaRPr>
          </a:p>
        </p:txBody>
      </p:sp>
    </p:spTree>
    <p:extLst>
      <p:ext uri="{BB962C8B-B14F-4D97-AF65-F5344CB8AC3E}">
        <p14:creationId xmlns:p14="http://schemas.microsoft.com/office/powerpoint/2010/main" val="2437074400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4070025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5-1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정산 관리하기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기간별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741760" y="6460976"/>
            <a:ext cx="8098371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기간별 정산관리에서 해당 기간 내 전체 업체의 주문 금액 등을 확인할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배송완료건에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대해서만 목록에 나옵니다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00" y="1708448"/>
            <a:ext cx="11343399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6297273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/>
        </p:nvSpPr>
        <p:spPr>
          <a:xfrm>
            <a:off x="483755" y="250300"/>
            <a:ext cx="2933495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6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팝업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띄우기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34" name="Shape 234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35" name="Shape 235"/>
          <p:cNvSpPr/>
          <p:nvPr/>
        </p:nvSpPr>
        <p:spPr>
          <a:xfrm>
            <a:off x="704749" y="6749008"/>
            <a:ext cx="10041210" cy="2041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홈페이지에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공지사항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팝업창을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띄우고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환경설정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&gt;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팝업공지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설정에서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팝업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공지사항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보이기를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내용을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작성하고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저장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누릅니다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     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더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이상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공지창을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띄우고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않은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경우에는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체크박스에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해제하고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저장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버튼을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누릅니다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이미지를 삽입하고 싶은 경우 에디터의 이미지 버튼을 클릭한 후 업로드 탭에서 이미지를 서버로 전송 후 </a:t>
            </a: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확인버튼을 누르면 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36" name="Shape 236"/>
          <p:cNvSpPr>
            <a:spLocks noGrp="1"/>
          </p:cNvSpPr>
          <p:nvPr>
            <p:ph type="sldNum" sz="quarter" idx="4294967295"/>
          </p:nvPr>
        </p:nvSpPr>
        <p:spPr>
          <a:xfrm>
            <a:off x="6335344" y="9251950"/>
            <a:ext cx="321412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49" y="1780456"/>
            <a:ext cx="6536002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576" y="1636440"/>
            <a:ext cx="4248472" cy="4701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/>
        </p:nvSpPr>
        <p:spPr>
          <a:xfrm>
            <a:off x="483755" y="250300"/>
            <a:ext cx="3601948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7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게시판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생성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0" name="Shape 240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1" name="Shape 241"/>
          <p:cNvSpPr/>
          <p:nvPr/>
        </p:nvSpPr>
        <p:spPr>
          <a:xfrm>
            <a:off x="673658" y="5850152"/>
            <a:ext cx="11120032" cy="3149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게시판을 추가하려면 하단에 코드명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영문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과 게시판명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,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쓰기 및 읽기 권한을 설정 후 만들기를 누릅니다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쓰기권한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: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게시판에 글을 쓸 수 있는 권한으로 공지사항 게시판 등의 경우에는 관리자 전용으로 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                   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로그인한 회원만 가능하게 하려면 관리자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/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회원에 체크합니다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altLang="ko-KR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읽기권한</a:t>
            </a: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: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1:1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문의 게시판 등은 관리자 전용으로 해야만 관리자 및 글 쓴 회원만 읽기가 가능합니다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                       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로그인한 </a:t>
            </a: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회원만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읽기 가능하게 </a:t>
            </a:r>
            <a:r>
              <a:rPr lang="ko-KR" altLang="en-US" dirty="0">
                <a:latin typeface="Noto Sans CJK KR Regular" pitchFamily="34" charset="-127"/>
                <a:ea typeface="Noto Sans CJK KR Regular" pitchFamily="34" charset="-127"/>
              </a:rPr>
              <a:t>하려면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회원 전용에 체크합니다</a:t>
            </a:r>
            <a:r>
              <a:rPr lang="en-US" altLang="ko-KR"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altLang="ko-KR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게시판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목록의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게시글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삭제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등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관리자만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접근이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가능한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별도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게시판용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비밀번호입니다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 (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로그인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비밀번호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X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2" name="Shape 242"/>
          <p:cNvSpPr>
            <a:spLocks noGrp="1"/>
          </p:cNvSpPr>
          <p:nvPr>
            <p:ph type="sldNum" sz="quarter" idx="4294967295"/>
          </p:nvPr>
        </p:nvSpPr>
        <p:spPr>
          <a:xfrm>
            <a:off x="6306312" y="9251950"/>
            <a:ext cx="379477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20" y="1492424"/>
            <a:ext cx="1172210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260808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8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SMS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설정하기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473613" y="6542647"/>
            <a:ext cx="12224500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※ 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해당 기능은 별도의 외부 유료서비스입니다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dirty="0" err="1" smtClean="0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확인이나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발송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완료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등등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주문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처리에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관해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업체에게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SMS 를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보내고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싶을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때는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별도로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후이즈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SMS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서비스에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가입해야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  <a:p>
            <a:pPr algn="l">
              <a:defRPr sz="1800"/>
            </a:pPr>
            <a:r>
              <a:rPr u="sng" dirty="0">
                <a:latin typeface="Noto Sans CJK KR Regular" pitchFamily="34" charset="-127"/>
                <a:ea typeface="Noto Sans CJK KR Regular" pitchFamily="34" charset="-127"/>
                <a:hlinkClick r:id="rId2"/>
              </a:rPr>
              <a:t>http://hosting.whois.co.kr/new/sms.php</a:t>
            </a:r>
          </a:p>
          <a:p>
            <a:pPr algn="l">
              <a:defRPr sz="1800"/>
            </a:pPr>
            <a:endParaRPr u="sng" dirty="0">
              <a:latin typeface="Noto Sans CJK KR Regular" pitchFamily="34" charset="-127"/>
              <a:ea typeface="Noto Sans CJK KR Regular" pitchFamily="34" charset="-127"/>
              <a:hlinkClick r:id="rId2"/>
            </a:endParaRPr>
          </a:p>
          <a:p>
            <a:pPr algn="l">
              <a:defRPr sz="1800"/>
            </a:pP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가입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사용함에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체크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후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사용하면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 </a:t>
            </a:r>
            <a:r>
              <a:rPr dirty="0" err="1">
                <a:latin typeface="Noto Sans CJK KR Regular" pitchFamily="34" charset="-127"/>
                <a:ea typeface="Noto Sans CJK KR Regular" pitchFamily="34" charset="-127"/>
              </a:rPr>
              <a:t>됩니다</a:t>
            </a:r>
            <a:r>
              <a:rPr dirty="0">
                <a:latin typeface="Noto Sans CJK KR Regular" pitchFamily="34" charset="-127"/>
                <a:ea typeface="Noto Sans CJK KR Regular" pitchFamily="34" charset="-127"/>
              </a:rPr>
              <a:t>.</a:t>
            </a: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513" y="1421667"/>
            <a:ext cx="9613774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3545842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1</a:t>
            </a: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9</a:t>
            </a:r>
            <a:r>
              <a:rPr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어드민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정보 설정하기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473613" y="6819646"/>
            <a:ext cx="7309693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①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어드민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화면 우측 상단에 관리자 아이콘이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dirty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② 해당 아이콘을 눌러 정보설정 메뉴에서 </a:t>
            </a:r>
            <a:r>
              <a:rPr lang="ko-KR" altLang="en-US" dirty="0" err="1" smtClean="0">
                <a:latin typeface="Noto Sans CJK KR Regular" pitchFamily="34" charset="-127"/>
                <a:ea typeface="Noto Sans CJK KR Regular" pitchFamily="34" charset="-127"/>
              </a:rPr>
              <a:t>어드민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 정보를 수정할 수 있습니다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. </a:t>
            </a:r>
          </a:p>
          <a:p>
            <a:pPr algn="l">
              <a:defRPr sz="1800"/>
            </a:pP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219" y="1560308"/>
            <a:ext cx="4302362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9084159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/>
        </p:nvSpPr>
        <p:spPr>
          <a:xfrm>
            <a:off x="483755" y="250300"/>
            <a:ext cx="714939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600"/>
            </a:lvl1pPr>
          </a:lstStyle>
          <a:p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제작</a:t>
            </a:r>
            <a:endParaRPr dirty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47774" y="977900"/>
            <a:ext cx="12109253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4549942" y="7891735"/>
            <a:ext cx="390491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800"/>
            </a:pP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문의사항은 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  <a:hlinkClick r:id="rId2"/>
              </a:rPr>
              <a:t>webmaster@nwlab.co.kr</a:t>
            </a:r>
            <a:endParaRPr lang="en-US" altLang="ko-KR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  <a:p>
            <a:pPr algn="l">
              <a:defRPr sz="1800"/>
            </a:pPr>
            <a:r>
              <a:rPr lang="en-US" dirty="0" smtClean="0">
                <a:latin typeface="Noto Sans CJK KR Regular" pitchFamily="34" charset="-127"/>
                <a:ea typeface="Noto Sans CJK KR Regular" pitchFamily="34" charset="-127"/>
              </a:rPr>
              <a:t>010-9531-0429 (</a:t>
            </a:r>
            <a:r>
              <a:rPr lang="ko-KR" altLang="en-US" dirty="0" smtClean="0">
                <a:latin typeface="Noto Sans CJK KR Regular" pitchFamily="34" charset="-127"/>
                <a:ea typeface="Noto Sans CJK KR Regular" pitchFamily="34" charset="-127"/>
              </a:rPr>
              <a:t>조성현</a:t>
            </a:r>
            <a:r>
              <a:rPr lang="en-US" altLang="ko-KR" dirty="0" smtClean="0">
                <a:latin typeface="Noto Sans CJK KR Regular" pitchFamily="34" charset="-127"/>
                <a:ea typeface="Noto Sans CJK KR Regular" pitchFamily="34" charset="-127"/>
              </a:rPr>
              <a:t>)</a:t>
            </a:r>
            <a:endParaRPr lang="en-US" dirty="0" smtClean="0">
              <a:latin typeface="Noto Sans CJK KR Regular" pitchFamily="34" charset="-127"/>
              <a:ea typeface="Noto Sans CJK KR Regular" pitchFamily="34" charset="-127"/>
            </a:endParaRPr>
          </a:p>
        </p:txBody>
      </p:sp>
      <p:sp>
        <p:nvSpPr>
          <p:cNvPr id="248" name="Shape 248"/>
          <p:cNvSpPr>
            <a:spLocks noGrp="1"/>
          </p:cNvSpPr>
          <p:nvPr>
            <p:ph type="sldNum" sz="quarter" idx="4294967295"/>
          </p:nvPr>
        </p:nvSpPr>
        <p:spPr>
          <a:xfrm>
            <a:off x="6337172" y="9251950"/>
            <a:ext cx="317755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pic>
        <p:nvPicPr>
          <p:cNvPr id="22530" name="Picture 2" descr="C:\Users\Seonghyeon\Downloads\nextwave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87" y="3136280"/>
            <a:ext cx="5229225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621335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pple SD 산돌고딕 Neo 옅은체"/>
        <a:ea typeface="Apple SD 산돌고딕 Neo 옅은체"/>
        <a:cs typeface="Apple SD 산돌고딕 Neo 옅은체"/>
      </a:majorFont>
      <a:minorFont>
        <a:latin typeface="Apple SD 산돌고딕 Neo 옅은체"/>
        <a:ea typeface="Apple SD 산돌고딕 Neo 옅은체"/>
        <a:cs typeface="Apple SD 산돌고딕 Neo 옅은체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Apple SD 산돌고딕 Neo 옅은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ple SD 산돌고딕 Neo 옅은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pple SD 산돌고딕 Neo 옅은체"/>
        <a:ea typeface="Apple SD 산돌고딕 Neo 옅은체"/>
        <a:cs typeface="Apple SD 산돌고딕 Neo 옅은체"/>
      </a:majorFont>
      <a:minorFont>
        <a:latin typeface="Apple SD 산돌고딕 Neo 옅은체"/>
        <a:ea typeface="Apple SD 산돌고딕 Neo 옅은체"/>
        <a:cs typeface="Apple SD 산돌고딕 Neo 옅은체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Apple SD 산돌고딕 Neo 옅은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ple SD 산돌고딕 Neo 옅은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1308</Words>
  <Application>Microsoft Office PowerPoint</Application>
  <PresentationFormat>사용자 지정</PresentationFormat>
  <Paragraphs>212</Paragraphs>
  <Slides>28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29" baseType="lpstr">
      <vt:lpstr>White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Seonghyeon Joh</dc:creator>
  <cp:lastModifiedBy>Seonghyeon Joh</cp:lastModifiedBy>
  <cp:revision>181</cp:revision>
  <dcterms:modified xsi:type="dcterms:W3CDTF">2016-04-29T01:32:58Z</dcterms:modified>
</cp:coreProperties>
</file>